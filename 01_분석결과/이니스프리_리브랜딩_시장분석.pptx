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97B4A"/>
            </a:solidFill>
            <a:ln w="38100" cap="flat">
              <a:solidFill>
                <a:srgbClr val="C97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2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7B4A"/>
              </a:solidFill>
              <a:ln w="9525" cap="flat">
                <a:solidFill>
                  <a:srgbClr val="C97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2016</c:v>
                  </c:pt>
                  <c:pt idx="1">
                    <c:v>2020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7679</c:v>
                </c:pt>
                <c:pt idx="1">
                  <c:v>3486</c:v>
                </c:pt>
                <c:pt idx="2">
                  <c:v>2997</c:v>
                </c:pt>
                <c:pt idx="3">
                  <c:v>2738</c:v>
                </c:pt>
                <c:pt idx="4">
                  <c:v>2246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22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7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매장수</c:v>
                </c:pt>
              </c:strCache>
            </c:strRef>
          </c:tx>
          <c:spPr>
            <a:solidFill>
              <a:srgbClr val="2E6B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2016</c:v>
                  </c:pt>
                  <c:pt idx="1">
                    <c:v>2020</c:v>
                  </c:pt>
                  <c:pt idx="2">
                    <c:v>2023</c:v>
                  </c:pt>
                  <c:pt idx="3">
                    <c:v>2024말</c:v>
                  </c:pt>
                  <c:pt idx="4">
                    <c:v>현재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656</c:v>
                </c:pt>
                <c:pt idx="2">
                  <c:v>338</c:v>
                </c:pt>
                <c:pt idx="3">
                  <c:v>212</c:v>
                </c:pt>
                <c:pt idx="4">
                  <c:v>147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7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압력 강도</c:v>
                </c:pt>
              </c:strCache>
            </c:strRef>
          </c:tx>
          <c:spPr>
            <a:solidFill>
              <a:srgbClr val="C97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7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7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B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AE7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구매자 협상력</c:v>
                  </c:pt>
                  <c:pt idx="1">
                    <c:v>신규 진입 위협</c:v>
                  </c:pt>
                  <c:pt idx="2">
                    <c:v>기존 경쟁</c:v>
                  </c:pt>
                  <c:pt idx="3">
                    <c:v>대체재 위협</c:v>
                  </c:pt>
                  <c:pt idx="4">
                    <c:v>공급자 협상력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E6B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2E6B4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MARKETER PORTFOLIO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이니스프리 리브랜딩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시장분석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 · PESTEL · 5 Forces · SWOT/TOWS · TAM·SAM·SOM 프레임 기반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2E6B4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773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한 번 실패한 리브랜딩, 무엇을 놓쳤는가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 “더 뉴 아일” 리브랜딩 실패를 전제로 다시 읽는 시장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소현 · 2026.08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다룰 6가지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84832"/>
            <a:ext cx="566928" cy="566928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029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 현황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4505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이니스프리만 역성장하는가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084832"/>
            <a:ext cx="566928" cy="566928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2029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리브랜딩 실패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24505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 “더 뉴 아일”, 무엇이 안 통했나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730752"/>
            <a:ext cx="566928" cy="566928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30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675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3C 분석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0965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Competitor · Company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3730752"/>
            <a:ext cx="566928" cy="566928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730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3675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PESTEL · 5 Forces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69480" y="40965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통제할 수 없는 판을 읽는다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5376672"/>
            <a:ext cx="566928" cy="566928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76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00200" y="5321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· TOWS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00200" y="57424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흩어진 사실을 전략으로 교차한다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5120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5376672"/>
            <a:ext cx="566928" cy="566928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5376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69480" y="5321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TAM/SAM/SOM &amp; Next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269480" y="57424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규모와 다음 단계(세분화)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시장 현황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시장은 크는데, 이니스프리만 역성장한다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추이 (억원)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34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2016년 대비 2024년 매출 약 71% 감소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63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매장 수 추이 (개)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172200" y="173736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263640" y="4434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1,000개 → 147개, 로드샵 채널 전체가 32개월 연속 폐점 중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F4D36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074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인사이트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소비자의 화장품 구매가 사라진 게 아니라 채널이 이동했다.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“로드샵”에서 “올다무컬(올리브영·다이소·무신사·컬리)+온라인”으로 수요가 옮겨갔고, 이니스프리는 이 전환에서 뒤처졌다.  (온라인 화장품 거래액 전년 동기 대비 +20.4%)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리브랜딩 실패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 한 번, 리브랜딩을 시도했다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 “더 뉴 아일(THE NEW ISLE)” — 로고·세계관·패키지 전면 교체, 매장 축소, 중국 철수, 올리브영 입점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-6.2%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 2분기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전년 동기 대비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1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574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8억원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29260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 2분기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영업손실 전환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874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1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0574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올리브영 카테고리 100위 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: 에뛰드(계열사)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실패했는가 — 두 가지 가설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297680"/>
            <a:ext cx="5394960" cy="1691640"/>
          </a:xfrm>
          <a:prstGeom prst="roundRect">
            <a:avLst>
              <a:gd name="adj" fmla="val 4324"/>
            </a:avLst>
          </a:prstGeom>
          <a:ln w="15875">
            <a:solidFill>
              <a:srgbClr val="C9D9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498848"/>
            <a:ext cx="457200" cy="45720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5171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(Channel · CRM)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재배치와 올리브영 입점은 시도했지만, 정작 매출 하락의 근본 원인이었던 온라인 전환 지연과 CRM·재구매 리텐션은 근본적으로 건드리지 않음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2976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4297680"/>
            <a:ext cx="5394960" cy="1691640"/>
          </a:xfrm>
          <a:prstGeom prst="roundRect">
            <a:avLst>
              <a:gd name="adj" fmla="val 4324"/>
            </a:avLst>
          </a:prstGeom>
          <a:ln w="15875">
            <a:solidFill>
              <a:srgbClr val="C9D9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498848"/>
            <a:ext cx="457200" cy="45720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45171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내러티브 (Brand Authenticity)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92240" y="5074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제주라는 구체적 지역에서 “더 뉴 아일”이라는 가상의 섬으로 전환하며, 2000년부터 쌓아온 브랜드 자산과의 개연성을 스스로 끊음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3C 분석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3C — 판이 어떻게 생겼나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6F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고객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겉으로 원하는 것: 합리적 가격의 K-뷰티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원하는 것: 성분·후기·가격을 비교한 뒤 가장 유리한 채널에서 사는 것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화장품 매출 13.8조원(+7.1%, 2025)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737360"/>
            <a:ext cx="502920" cy="50292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7647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경쟁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직접: 미샤·에뛰드 등 로드샵 브랜드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간접: 올다무컬 — 올리브영·다이소·무신사·컬리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계열사 에뛰드보다도 올리브영 랭크 열세 (1위 vs 11위)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737360"/>
            <a:ext cx="502920" cy="502920"/>
          </a:xfrm>
          <a:prstGeom prst="ellipse">
            <a:avLst/>
          </a:prstGeom>
          <a:solidFill>
            <a:srgbClr val="8FAE7D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17647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자사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42316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가진 것: 계열 인프라, 브랜드평판 3위, 제주 자연주의 자산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부족한 것: 온라인 존재감, 실행 예산(영업이익률 0.7%)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리브랜딩 카드 1회 소진 → 재시도 신뢰비용 부담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F4D3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074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스위트스팟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고객은 비교구매로 넘어갔고, 이니스프리는 계열사에도 밀리는 온라인 약자다.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고객을 새로 설득하는 것보다, 이미 브랜드를 아는 휴면 고객을 먼저 온라인 동선으로 다시 데려오는 쪽이 훨씬 빠른 승부처다.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PESTEL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PESTEL — 통제할 수 없는 6개의 바람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733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 한한령 완화 기대 — 단 직영점 600개는 이미 철수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1709928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6360" y="16733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1305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내수 소매 -2.4%, 온라인만 나홀로 +7.1% 성장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1709928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0" y="16733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1305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올다무컬 비교구매 습관 정착 + “또 리브랜딩?” 소비자 피로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310128"/>
            <a:ext cx="457200" cy="457200"/>
          </a:xfrm>
          <a:prstGeom prst="ellipse">
            <a:avLst/>
          </a:prstGeom>
          <a:solidFill>
            <a:srgbClr val="8FAE7D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2735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37307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올리브영 추천 알고리즘, CRM·구독 결제 인프라 보편화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4340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4544568" y="3310128"/>
            <a:ext cx="457200" cy="45720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32735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환경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37307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제주·친환경 자산이 세계관 전환 과정에서 희석 — 재활성화 여지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3816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8339328" y="3310128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0" y="32735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법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37307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표시광고 규제, 구독형 자동결제·환불 규정 준수 의무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5 FORCES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Forces — 이 시장, 버티면 남는 게 있을까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높음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2648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높음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26480" y="3401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26480" y="4206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5010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5240" y="155448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1F4D36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산업 매력도: 낮음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909560" y="2377440"/>
            <a:ext cx="347472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공급자 협상력만 낮고, 나머지 4개 압력은 모두 높음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진입장벽이 낮아 인디브랜드가 계속 유입됨 (2025 올리브영 어워즈 수상 4개 중 3개가 인디브랜드)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구매자 전환비용이 사실상 0에 가까움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제품을 못 만드는 게 아니라, “팔리게 만드는 구조”의 문제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SWOT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— 네 칸에 흩어진 사실을 한 장으로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4F6F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강점 (내부·긍정)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아모레퍼시픽 계열 R&amp;D·생산 인프라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브랜드평판 3위, 잔존 인지도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2000년부터 쌓은 제주 자연주의 자산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4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737360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86600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약점 (내부·부정)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채널 존재감 미약(계열사보다도 열세)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리브랜딩 카드 이미 1회 소진 → 재시도 신뢰비용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영업이익률 0.7%, 실행 예산 제한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4F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기회 (외부·긍정)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화장품 고성장(+20.4%, +7.1%)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 시장 회복 기대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휴면고객 CRM — 획득비용 0에 가까운 자산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4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114800"/>
            <a:ext cx="457200" cy="457200"/>
          </a:xfrm>
          <a:prstGeom prst="ellipse">
            <a:avLst/>
          </a:prstGeom>
          <a:solidFill>
            <a:srgbClr val="8A5A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8660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위협 (외부·부정)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709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로드샵 채널 구조적 붕괴(32개월 연속 폐점)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올다무컬의 시장 장악 심화</a:t>
            </a:r>
            <a:endParaRPr lang="en-US" sz="113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3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“또 리브랜딩?” 소비자·언론의 피로·냉소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TOWS — SWOT을 전략으로 교차하기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3404"/>
            </a:avLst>
          </a:prstGeom>
          <a:ln w="15875">
            <a:solidFill>
              <a:srgbClr val="C9D9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잔존 인지도(3위)를 온라인 성장 채널에 재배치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3200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전략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인지 광고 대신 ‘이미 아는 브랜드’를 온라인 구매 동선에 다시 노출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508760"/>
            <a:ext cx="5394960" cy="2148840"/>
          </a:xfrm>
          <a:prstGeom prst="roundRect">
            <a:avLst>
              <a:gd name="adj" fmla="val 3404"/>
            </a:avLst>
          </a:prstGeom>
          <a:ln w="15875">
            <a:solidFill>
              <a:srgbClr val="C9D9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737360"/>
            <a:ext cx="548640" cy="54864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초저가 경쟁 대신 ‘검증된 성분’ 포지션 방어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3200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전략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다이소식 가격 경쟁이 아니라 오랜 자연주의·성분 신뢰 자산으로 대응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3404"/>
            </a:avLst>
          </a:prstGeom>
          <a:ln w="15875">
            <a:solidFill>
              <a:srgbClr val="C9D9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8FAE7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40873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휴면고객 CRM부터 좁게 시작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08760" y="5577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보완 전략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663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예산이 큰 신규 획득 광고 대신 획득비용 0에 가까운 휴면고객부터 채움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217920" y="3886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3886200"/>
            <a:ext cx="5394960" cy="2148840"/>
          </a:xfrm>
          <a:prstGeom prst="roundRect">
            <a:avLst>
              <a:gd name="adj" fmla="val 3404"/>
            </a:avLst>
          </a:prstGeom>
          <a:ln w="15875">
            <a:solidFill>
              <a:srgbClr val="C9D9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78040" y="40873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비주얼 전면 재교체는 다시 하지 않는다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78040" y="5577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전략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4663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예산도 적고 리브랜딩 신뢰도도 소진된 상태 — 채널·CRM처럼 눈에 덜 띄지만 되돌릴 수 있는 영역부터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시장 규모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· SAM · SOM — 커지는 시장, 늘지 않는 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1188720"/>
          </a:xfrm>
          <a:prstGeom prst="roundRect">
            <a:avLst>
              <a:gd name="adj" fmla="val 6154"/>
            </a:avLst>
          </a:prstGeom>
          <a:solidFill>
            <a:srgbClr val="1F4D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4650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46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28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1709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34.3조원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2648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2024년, 전년비 -2.4%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화장품 소매시장 전체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2E6B4F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13639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118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30998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13.8조원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93192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2025년, +7.1%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7673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이니스프리가 채널 전환으로 공략 가능한 온라인 화장품 시장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379976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C97B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526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507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4489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2,246억원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737360" y="4837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2024년, 영업이익률 0.7%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51572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현재 국내 매출 (현재 확보한 몫)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6052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대비 SOM 점유율 약 0.65%.  </a:t>
            </a:r>
            <a:pPr indent="0" marL="0">
              <a:buNone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시장이 커지는 것과 이니스프리가 그 몫을 가져가는 것은 별개의 문제 — 온라인 존재감은 여전히 올리브영 카테고리 100위 내 1개 제품 수준이다.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시장분석 요약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시장분석 요약 — 한 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4D3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시장 정의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채널이 로드샵에서 ‘올다무컬+온라인’으로 이동한 국내 중저가 스킨케어 시장. 이니스프리는 이미 한 번(2023년) 리브랜딩에 실패해, 3위권 인지도만 남고 온라인 존재감·소비자 신뢰는 회복하지 못한 상태.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706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815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성분·가격 비교구매가 기본값. 이니스프리는 그 동선 안에 없음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706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815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계열사 에뛰드에도 온라인에서 밀리는 내부 경쟁 + 올다무컬 협공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6060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7706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0815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잔존 인지도는 있으나 리브랜딩 카드 소진, 예산 매우 제한적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핵심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pPr indent="0" marL="0">
              <a:buNone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계열 인프라·잔존 인지도    </a:t>
            </a:r>
            <a:pPr indent="0" marL="0">
              <a:buNone/>
            </a:pPr>
            <a:r>
              <a:rPr lang="en-US" sz="12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pPr indent="0" marL="0">
              <a:buNone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부재·신뢰 소진    </a:t>
            </a:r>
            <a:pPr indent="0" marL="0">
              <a:buNone/>
            </a:pPr>
            <a:r>
              <a:rPr lang="en-US" sz="12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pPr indent="0" marL="0">
              <a:buNone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고성장·휴면고객    </a:t>
            </a:r>
            <a:pPr indent="0" marL="0">
              <a:buNone/>
            </a:pPr>
            <a:r>
              <a:rPr lang="en-US" sz="1200" b="1" dirty="0">
                <a:solidFill>
                  <a:srgbClr val="8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</a:t>
            </a:r>
            <a:pPr indent="0" marL="0">
              <a:buNone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로드샵 붕괴·재리브랜딩 피로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규모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650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34.3조원  ·  SAM 13.8조원(온라인)  ·  SOM 2,246억원(현재 매출, TAM 대비 약 0.65%)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2강(세분화·타겟팅)으로 넘길 결론 3줄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E6B4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8424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채널 행동이 세분화의 첫 축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가격이 아니라 ‘비교구매형 vs 관성구매형’ — 온라인 비교구매가 기본값인 소비자에게 이니스프리는 현재 선택지 목록에 없다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E6B4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53872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38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337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휴면고객은 별도 세그먼트다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3749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재획득비용과 브랜드 피로(냉소)를 동시에 가진 특수 세그먼트 — 과거 구매 이력이 있는 고객은 다르게 취급해야 한다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E6B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509320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932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재설계는 비주얼이 아니라 구조다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53035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다이소식 초저가와 올리브영식 트렌드 편집숍 사이 애매한 포지션에서 벗어나려면 채널·리텐션 구조를 축으로 다시 짜야 한다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다음: 세분화(Segmentation) — 누구에게 먼저 집중할 것인가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이니스프리 리브랜딩 시장분석 · 그로스마케터 포트폴리오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07040" y="6528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2026-08-18T06:06:51Z</dcterms:created>
  <dcterms:modified xsi:type="dcterms:W3CDTF">2026-08-18T06:06:51Z</dcterms:modified>
</cp:coreProperties>
</file>