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제목만. 15초 안에 넘긴다.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먼저 명제를 교정한다. '실패'가 아니라 '성공했으나 정체'. 이 한 장이 팀의 분석 태도를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리브랜딩이 의도대로 작동한 증거, 오른쪽은 브랜드로 누적되지 않은 증거.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이 장이 발표의 신뢰를 만든다. '우리는 확실한 것과 아닌 것을 구분한다'. 뒤 슬라이드마다 이 색 태그가 붙는다.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실패요인 5개. 01~04는 확인된 사실, 05만 추정이다. 이 구분을 소리내어 말할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발표의 중심. 다섯 레버를 왼쪽부터 읽는다. 오프라인·온라인·AEO·랜딩페이지가 수단이고 예산구조가 조건이다.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해결법 01 오프라인. 실행 항목을 읽고, 마지막 빨간 박스(확실하지 않은 부분)를 반드시 같이 말할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해결법 02 온라인 캠페인. 실행 항목을 읽고, 마지막 빨간 박스(확실하지 않은 부분)를 반드시 같이 말할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해결법 03 AEO · 제로클릭. 실행 항목을 읽고, 마지막 빨간 박스(확실하지 않은 부분)를 반드시 같이 말할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해결법 04 랜딩페이지. 실행 항목을 읽고, 마지막 빨간 박스(확실하지 않은 부분)를 반드시 같이 말할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해결법 05 예산 · 운영 구조. 실행 항목을 읽고, 마지막 빨간 박스(확실하지 않은 부분)를 반드시 같이 말할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본문 마무리. 강점과 기회는 이미 있고 약점은 그 조합으로 메울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시작. 시간이 부족하면 '자세한 분석은 부록에' 하고 마지막 파트로 점프한다.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Forces. 마지막 줄이 결론 — 지금은 브랜드를 줄일 때가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PESTEL. Social과 Tech 두 줄이 페스티벌·AEO의 근거다.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SWOT. 대괄호가 도출 출처다.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원자료. 질문이 나오면 이 장으로 돌아온다.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한계를 먼저 밝히면 근거가 되고, 지적당하면 허점이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파트. '제안만 하고 끝내지 않는다'를 보여주는 구간.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지표 5개. 1번이 핵심이고 무료다.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30일 항목은 전부 무료이고 이번 주에 시작할 수 있다. '제안만 하는 팀'과 갈리는 지점.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게이트. '미달이 곧 중단이 아니다'가 핵심 — 2024년 철회가 그 구조 때문이었다.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명제 교정을 다시 반복하며 끝낸다.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1298448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CAPSTONE · BRAND DIAGNOSIS · 2026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1874520"/>
            <a:ext cx="10762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6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13232" y="2596896"/>
            <a:ext cx="10762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리브랜딩 진단과 재성장 설계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13232" y="365760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실패요인 5  ·  해결법 5  ·  모니터링 체계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5742432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4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감사보고서 6건(DART)  ·  공정거래위원회 정보공개서  ·  네이버 데이터랩 1,826일  ·  언론보도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명제를 먼저 교정한다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보고 원인을 지목하면 사후확증편향에 걸린다. 명제가 틀리면 분석 전체가 무너진다.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D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5138928" cy="2377440"/>
          </a:xfrm>
          <a:prstGeom prst="roundRect">
            <a:avLst>
              <a:gd name="adj" fmla="val 3077"/>
            </a:avLst>
          </a:prstGeom>
          <a:solidFill>
            <a:srgbClr val="2415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25420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쓰지 않는 명제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0704" y="290779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“리브랜딩은 실패했다”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0704" y="3456432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기간 매장 철수·채널 붕괴·중국 수요 소멸이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 진행됐다. 리브랜딩만 원인으로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지목할 근거가 없다.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36792" y="2286000"/>
            <a:ext cx="5138928" cy="2377440"/>
          </a:xfrm>
          <a:prstGeom prst="roundRect">
            <a:avLst>
              <a:gd name="adj" fmla="val 3077"/>
            </a:avLst>
          </a:prstGeom>
          <a:solidFill>
            <a:srgbClr val="0F23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84264" y="25420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쓰는 명제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84264" y="290779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“리브랜딩은 성공했으나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성장은 정체되었다”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84264" y="3694176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포지셔닝 전환이라는 목표 자체는 달성됐다.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다만 그 성과가 브랜드 성장으로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누적되지 않았다.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3232" y="5010912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교정이 발표 전체의 신뢰를 만든다 — 우리는 결론을 정해두고 근거를 모으지 않았다.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사실관계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리브랜딩은 작동했다. 브랜드가 크지 않았을 뿐이다.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 2월 · 제주도 → THE NEW ISLE · 대행사 BBDO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13232" y="2139696"/>
            <a:ext cx="5138928" cy="3017520"/>
          </a:xfrm>
          <a:prstGeom prst="roundRect">
            <a:avLst>
              <a:gd name="adj" fmla="val 2424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23957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작동한 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0704" y="2852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계열사 공급 (2023)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13632" y="285292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4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+86.1%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60704" y="35112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제품군 검색 (2023)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13632" y="3511296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4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+118.5%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60704" y="41696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“리뉴얼·로고” 검색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13632" y="416966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4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146배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36792" y="2139696"/>
            <a:ext cx="5138928" cy="3017520"/>
          </a:xfrm>
          <a:prstGeom prst="roundRect">
            <a:avLst>
              <a:gd name="adj" fmla="val 2424"/>
            </a:avLst>
          </a:prstGeom>
          <a:solidFill>
            <a:srgbClr val="FDEE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84264" y="23957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정체한 것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84264" y="2852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검색 (5년)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537192" y="285292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83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−72.9%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84264" y="35112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매출 (2023)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537192" y="3511296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83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−8.7%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84264" y="41696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가맹점 수 (2021→24)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537192" y="416966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83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→ 190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3232" y="5431536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방향은 맞았다. 문제는 그 성과를 브랜드로 누적시키지 못한 구조다.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분석의 경계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확실한 것과 확실하지 않은 것을 먼저 나눈다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발표에서 두 영역은 색으로 구분된다. 섞어서 말하지 않는다.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13232" y="2048256"/>
            <a:ext cx="3401568" cy="3749040"/>
          </a:xfrm>
          <a:prstGeom prst="roundRect">
            <a:avLst>
              <a:gd name="adj" fmla="val 2151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860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사실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6151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자료로 직접 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2962656"/>
            <a:ext cx="28895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광고선전비 7개년 (감사보고서 주석 21)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판관비 총액 +0.1% 동결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가맹점 400→190 (공정위 법정 등록)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브랜드·제품 검색지수 (데이터랩 1,826일)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공급 +86.1% (특수관계자 주석)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계약해지 91개 (2023, 3년 최다)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25696" y="2048256"/>
            <a:ext cx="3401568" cy="3749040"/>
          </a:xfrm>
          <a:prstGeom prst="roundRect">
            <a:avLst>
              <a:gd name="adj" fmla="val 2151"/>
            </a:avLst>
          </a:prstGeom>
          <a:solidFill>
            <a:srgbClr val="FDF6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22860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18304" y="26151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근거는 있으나 대체 지표로 간접 측정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18304" y="2962656"/>
            <a:ext cx="28895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“매장 = 노출 매체” — 상관 r=0.98이나 n=4~5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 연상 유지의 의미 해석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SOM — 계열사 공급액으로 근사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고객 이탈 사유 — 보도 인용 기반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성장 정체의 원인 배분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2048256"/>
            <a:ext cx="3401568" cy="3749040"/>
          </a:xfrm>
          <a:prstGeom prst="roundRect">
            <a:avLst>
              <a:gd name="adj" fmla="val 2151"/>
            </a:avLst>
          </a:prstGeom>
          <a:solidFill>
            <a:srgbClr val="FDEE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22860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미검증 가설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30768" y="26151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데이터가 없다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430768" y="2962656"/>
            <a:ext cx="28895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페스티벌의 접점 대체 효과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AEO 인용 점유율 현재 수준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2회차 구매율 목표치 +3%p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가맹점주 이탈과 리브랜딩의 인과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거버넌스(승계) 연결 — 시점 상관만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증액 규모의 적정선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실패요인 5개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요인 오른쪽 태그는 그 판단의 확신도다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13232" y="2139696"/>
            <a:ext cx="10762488" cy="640080"/>
          </a:xfrm>
          <a:prstGeom prst="roundRect">
            <a:avLst>
              <a:gd name="adj" fmla="val 11429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3969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27632" y="213969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접점 소멸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39312" y="213969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브랜드를 만날 자리가 없어졌다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022592" y="213969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가맹점 400 → 190개 · 브랜드 검색 −72.9%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314432" y="2331720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14432" y="23317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사실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3232" y="2889504"/>
            <a:ext cx="10762488" cy="640080"/>
          </a:xfrm>
          <a:prstGeom prst="roundRect">
            <a:avLst>
              <a:gd name="adj" fmla="val 11429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88950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27632" y="288950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자원 불일치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39312" y="288950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포지셔닝 전환 결정에 표면적 수준 예산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022592" y="288950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광고선전비 +41.6%인데 판관비 총액은 +0.1%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314432" y="3081528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14432" y="308152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사실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3232" y="3639312"/>
            <a:ext cx="10762488" cy="640080"/>
          </a:xfrm>
          <a:prstGeom prst="roundRect">
            <a:avLst>
              <a:gd name="adj" fmla="val 11429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63931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27632" y="36393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 실패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39312" y="363931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만에 철회했다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22592" y="36393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 광고선전비 −20.6% · 그린티 −48.1%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314432" y="3831336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14432" y="383133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사실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3232" y="4389120"/>
            <a:ext cx="10762488" cy="640080"/>
          </a:xfrm>
          <a:prstGeom prst="roundRect">
            <a:avLst>
              <a:gd name="adj" fmla="val 11429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4389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27632" y="4389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 실패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39312" y="4389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돈이 브랜드가 아니라 제품에 닿았다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022592" y="4389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−23.9% vs 제품 +118.5% (2023)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314432" y="4581144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14432" y="458114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사실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3232" y="5138928"/>
            <a:ext cx="10762488" cy="640080"/>
          </a:xfrm>
          <a:prstGeom prst="roundRect">
            <a:avLst>
              <a:gd name="adj" fmla="val 11429"/>
            </a:avLst>
          </a:prstGeom>
          <a:solidFill>
            <a:srgbClr val="FDF6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513892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27632" y="51389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계승 실패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639312" y="51389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고객에게 설명하지 않았다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022592" y="51389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 연상 0.79% → 1.87% · “헤리티지가 안 보인다”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314432" y="5330952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FDF6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14432" y="533095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8A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해결법 5개 — 레버별로 나눈다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오프라인 · 온라인 캠페인 · AEO · 랜딩페이지 · 예산 구조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13232" y="2139696"/>
            <a:ext cx="10762488" cy="640080"/>
          </a:xfrm>
          <a:prstGeom prst="roundRect">
            <a:avLst>
              <a:gd name="adj" fmla="val 11429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3969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27632" y="213969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6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오프라인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13632" y="213969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페스티벌 + 분기 팝업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85632" y="2139696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해결  요인 01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314432" y="2331720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FDEE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14432" y="23317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미검증 가설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3232" y="2889504"/>
            <a:ext cx="10762488" cy="640080"/>
          </a:xfrm>
          <a:prstGeom prst="roundRect">
            <a:avLst>
              <a:gd name="adj" fmla="val 11429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88950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27632" y="288950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6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캠페인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13632" y="288950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→ 브랜드 브리지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85632" y="2889504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해결  요인 04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314432" y="3081528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14432" y="308152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사실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3232" y="3639312"/>
            <a:ext cx="10762488" cy="640080"/>
          </a:xfrm>
          <a:prstGeom prst="roundRect">
            <a:avLst>
              <a:gd name="adj" fmla="val 11429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63931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27632" y="36393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6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AEO · 제로클릭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13632" y="363931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답변에 인용되게 만든다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485632" y="363931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해결  환경 변화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314432" y="3831336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FDEE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14432" y="383133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미검증 가설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3232" y="4389120"/>
            <a:ext cx="10762488" cy="640080"/>
          </a:xfrm>
          <a:prstGeom prst="roundRect">
            <a:avLst>
              <a:gd name="adj" fmla="val 11429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4389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27632" y="4389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6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랜딩페이지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13632" y="43891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계승 서사로 변화를 인지시킨다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85632" y="43891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해결  요인 05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314432" y="4581144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FDF6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14432" y="458114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8A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3232" y="5138928"/>
            <a:ext cx="10762488" cy="640080"/>
          </a:xfrm>
          <a:prstGeom prst="roundRect">
            <a:avLst>
              <a:gd name="adj" fmla="val 11429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513892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27632" y="51389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6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 · 운영 구조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913632" y="51389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총액 증액 · 과제 분리 · 3년 게이트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485632" y="51389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해결  요인 02·03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314432" y="5330952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14432" y="533095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사실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3232" y="5943600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~ ④가 실행 수단이고, ⑤는 그 넷을 가능하게 만드는 조건이다.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해결법 01 · 오프라인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페스티벌 + 분기 팝업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305288" y="822960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FDEE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05288" y="8229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미검증 가설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572768"/>
            <a:ext cx="10762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사라진 400개 매장의 노출을 대체하는 접점 자산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2048256"/>
            <a:ext cx="6583680" cy="2788920"/>
          </a:xfrm>
          <a:prstGeom prst="roundRect">
            <a:avLst>
              <a:gd name="adj" fmla="val 2623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24942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항목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42416" y="2578608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이벤트가 아니라 매년 반복되는 브랜드 자산으로 설계한다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번의 사건과 그 콘텐츠의 연중 재생으로 상시 노출을 만든다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팝업으로 사이 기간을 메운다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측정: 개최 전후 3개월 브랜드 검색지수 (제품 검색 아님)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71232" y="2048256"/>
            <a:ext cx="3904488" cy="2788920"/>
          </a:xfrm>
          <a:prstGeom prst="roundRect">
            <a:avLst>
              <a:gd name="adj" fmla="val 2623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82128" y="22494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처방인가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82128" y="2578608"/>
            <a:ext cx="33101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3C(접점 소멸 + 제주 자산 잔존) · PESTEL Social(체험 소비) · 5F③(매대에선 제품으로만 인식)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" y="5010912"/>
            <a:ext cx="10762488" cy="896112"/>
          </a:xfrm>
          <a:prstGeom prst="roundRect">
            <a:avLst>
              <a:gd name="adj" fmla="val 8163"/>
            </a:avLst>
          </a:prstGeom>
          <a:solidFill>
            <a:srgbClr val="FDEE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5138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확실하지 않은 부분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2416" y="5376672"/>
            <a:ext cx="10104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 사례 벤치마크 없이 세운 가설이다. 효과는 개최 전후 검색 비교로만 검증된다.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해결법 02 · 온라인 캠페인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→ 브랜드 브리지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305288" y="822960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05288" y="8229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사실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572768"/>
            <a:ext cx="10762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1위 제품 구매자를 브랜드 여정으로 넘긴다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2048256"/>
            <a:ext cx="6583680" cy="2788920"/>
          </a:xfrm>
          <a:prstGeom prst="roundRect">
            <a:avLst>
              <a:gd name="adj" fmla="val 2623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24942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항목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42416" y="2578608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앰플 구매 후 7·21·40일 루틴 전환 캠페인 — 제품이 아니라 사용 단계로 제안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상세페이지 하단을 “함께 구매”가 아니라 “이 앰플을 쓰는 4주 루틴”으로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지표를 전환율이 아니라 30일 내 2회차 구매율로 교체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획득 예산 일부를 리텐션으로 이동 — 신규 유입은 이미 작동 중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71232" y="2048256"/>
            <a:ext cx="3904488" cy="2788920"/>
          </a:xfrm>
          <a:prstGeom prst="roundRect">
            <a:avLst>
              <a:gd name="adj" fmla="val 2623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82128" y="22494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처방인가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82128" y="2578608"/>
            <a:ext cx="33101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광고비와 제품 검색은 r = +0.69로 반응했다. 돈이 제품을 움직일 수 있다는 것은 확인됐다.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" y="5010912"/>
            <a:ext cx="10762488" cy="896112"/>
          </a:xfrm>
          <a:prstGeom prst="roundRect">
            <a:avLst>
              <a:gd name="adj" fmla="val 8163"/>
            </a:avLst>
          </a:prstGeom>
          <a:solidFill>
            <a:srgbClr val="FDEE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5138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확실하지 않은 부분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2416" y="5376672"/>
            <a:ext cx="10104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목표치 +3%p는 업계 통상 범위 가정이며 이니스프리 실데이터로 검증되지 않았다.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해결법 03 · AEO · 제로클릭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답변에 인용되게 만든다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305288" y="822960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FDEE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05288" y="8229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미검증 가설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572768"/>
            <a:ext cx="10762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검색은 하는데 사이트에 오지 않는 구간을 방어한다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2048256"/>
            <a:ext cx="6583680" cy="2788920"/>
          </a:xfrm>
          <a:prstGeom prst="roundRect">
            <a:avLst>
              <a:gd name="adj" fmla="val 2623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24942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항목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42416" y="2578608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“제주 화산송이 효능”, “PDRN 앰플 추천” 등 질문형 쿼리 20개 세트 설계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정보를 구조화 데이터로 제공 — 성분·효능·사용법을 기계가 읽게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 대비 인용 점유율을 월 단위로 실측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팀이 직접 생성하는 1차 데이터가 된다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71232" y="2048256"/>
            <a:ext cx="3904488" cy="2788920"/>
          </a:xfrm>
          <a:prstGeom prst="roundRect">
            <a:avLst>
              <a:gd name="adj" fmla="val 2623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82128" y="22494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처방인가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82128" y="2578608"/>
            <a:ext cx="33101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 Technological. 브랜드 검색이 이미 −72.9%인데 남은 검색마저 클릭으로 안 이어지면 접점이 한 번 더 준다.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" y="5010912"/>
            <a:ext cx="10762488" cy="896112"/>
          </a:xfrm>
          <a:prstGeom prst="roundRect">
            <a:avLst>
              <a:gd name="adj" fmla="val 8163"/>
            </a:avLst>
          </a:prstGeom>
          <a:solidFill>
            <a:srgbClr val="FDEE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5138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확실하지 않은 부분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2416" y="5376672"/>
            <a:ext cx="10104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한 번도 실측하지 않았다. 인용 점유율의 현재 수준조차 모른다.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해결법 04 · 랜딩페이지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계승 서사로 변화를 인지시킨다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305288" y="822960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FDF6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05288" y="8229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8A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572768"/>
            <a:ext cx="10762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제주와 THE NEW ISLE을 대립이 아니라 계승으로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2048256"/>
            <a:ext cx="6583680" cy="2788920"/>
          </a:xfrm>
          <a:prstGeom prst="roundRect">
            <a:avLst>
              <a:gd name="adj" fmla="val 2623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24942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항목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42416" y="2578608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화면에서 “무엇이 왜 바뀌었는지”를 선언한다 — 3년이 지나도 인지가 안 됐다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제주(과거)를 부정하지 않고 근거로 재배치한다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구매자를 브랜드 여정으로 넘기는 동선을 심는다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A/B 지표는 전환율이 아니라 2회차 구매율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71232" y="2048256"/>
            <a:ext cx="3904488" cy="2788920"/>
          </a:xfrm>
          <a:prstGeom prst="roundRect">
            <a:avLst>
              <a:gd name="adj" fmla="val 2623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82128" y="22494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처방인가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82128" y="2578608"/>
            <a:ext cx="33101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 연상 비중이 3년째 오른다 = 새 세계관이 안 심겼다. 이탈 사유는 “헤리티지 상실”이었다.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" y="5010912"/>
            <a:ext cx="10762488" cy="896112"/>
          </a:xfrm>
          <a:prstGeom prst="roundRect">
            <a:avLst>
              <a:gd name="adj" fmla="val 8163"/>
            </a:avLst>
          </a:prstGeom>
          <a:solidFill>
            <a:srgbClr val="FDEE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5138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확실하지 않은 부분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2416" y="5376672"/>
            <a:ext cx="10104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“계승 서사가 이탈을 막는다”는 인과는 검증되지 않았다. 리뷰 언급률 변화로 간접 관찰만 가능하다.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해결법 05 · 예산 · 운영 구조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총액 증액 · 과제 분리 · 3년 게이트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305288" y="822960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05288" y="8229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사실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572768"/>
            <a:ext cx="10762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네 개를 실행 가능하게 만드는 조건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2048256"/>
            <a:ext cx="6583680" cy="2788920"/>
          </a:xfrm>
          <a:prstGeom prst="roundRect">
            <a:avLst>
              <a:gd name="adj" fmla="val 2623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24942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항목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42416" y="2578608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판관비 총액 자체를 늘린다 — 재배치는 베팅하지 않았다는 신호로 읽힌다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국내(접점 회복)와 해외(채널 심화)를 별도 예산·KPI·책임자로 분리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3년 투자를 사전 확약하고 문서화한다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중단·확대 기준을 시작 전에 합의해 사후 판단을 배제한다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71232" y="2048256"/>
            <a:ext cx="3904488" cy="2788920"/>
          </a:xfrm>
          <a:prstGeom prst="roundRect">
            <a:avLst>
              <a:gd name="adj" fmla="val 2623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82128" y="22494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처방인가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82128" y="2578608"/>
            <a:ext cx="33101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 판관비 총액은 +0.1%였고, 두 과제에 한 개 분량의 자원을 나눠 썼다. 그리고 1년 만에 철회했다.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" y="5010912"/>
            <a:ext cx="10762488" cy="896112"/>
          </a:xfrm>
          <a:prstGeom prst="roundRect">
            <a:avLst>
              <a:gd name="adj" fmla="val 8163"/>
            </a:avLst>
          </a:prstGeom>
          <a:solidFill>
            <a:srgbClr val="FDEE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5138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확실하지 않은 부분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2416" y="5376672"/>
            <a:ext cx="10104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증액 규모의 적정선은 산정하지 못했다 — 해외 SAM을 계측하지 못했기 때문이다.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1060704"/>
            <a:ext cx="10762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것은 새 전략이 아니라,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가진 자산을 접점으로 되돌릴 자원과 시간이다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13232" y="2926080"/>
            <a:ext cx="3401568" cy="1920240"/>
          </a:xfrm>
          <a:prstGeom prst="roundRect">
            <a:avLst>
              <a:gd name="adj" fmla="val 3810"/>
            </a:avLst>
          </a:prstGeom>
          <a:solidFill>
            <a:srgbClr val="191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42416" y="3657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출시 당일 올리브영 판매 1위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경쟁력은 이미 증명됐다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25696" y="2926080"/>
            <a:ext cx="3401568" cy="1920240"/>
          </a:xfrm>
          <a:prstGeom prst="roundRect">
            <a:avLst>
              <a:gd name="adj" fmla="val 3810"/>
            </a:avLst>
          </a:prstGeom>
          <a:solidFill>
            <a:srgbClr val="191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54880" y="3657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연상 비중 0.79% → 1.87%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소비자는 아직 떠나지 않았다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2926080"/>
            <a:ext cx="3401568" cy="1920240"/>
          </a:xfrm>
          <a:prstGeom prst="roundRect">
            <a:avLst>
              <a:gd name="adj" fmla="val 3810"/>
            </a:avLst>
          </a:prstGeom>
          <a:solidFill>
            <a:srgbClr val="191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67344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67344" y="3657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소비와 AI 검색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접점 통로가 열려 있다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3232" y="523036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리브랜딩은 메시지를 바꿨다. 남은 과제는 그 메시지를 전달할 자리를 다시 만드는 것이다.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D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spc="-300" kern="0" dirty="0">
                <a:solidFill>
                  <a:srgbClr val="1D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713232" y="2606040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2962656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3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— 분석 파트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39319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본문의 판단이 어떤 분석에서 나왔는지 제시한다.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 · 5 Forces · PESTEL · SWOT · 원자료 · 방법론과 한계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D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A-1 · 3C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제품은 이겼고 소비자는 남아 있는데, 만날 자리가 없다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13232" y="2048256"/>
            <a:ext cx="3401568" cy="3657600"/>
          </a:xfrm>
          <a:prstGeom prst="roundRect">
            <a:avLst>
              <a:gd name="adj" fmla="val 2151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Company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4128" y="274320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제품력 증명 — 올리브영 판매 1위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정상화 — 영업이익률 6.3%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채널 확보 — 세포라·Space NK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접점 소멸 — 가맹점 400→190개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관심 −72.9%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25696" y="2048256"/>
            <a:ext cx="3401568" cy="3657600"/>
          </a:xfrm>
          <a:prstGeom prst="roundRect">
            <a:avLst>
              <a:gd name="adj" fmla="val 2151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Customer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36592" y="274320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주력 구매자는 카테고리 비교구매층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브랜드가 아니라 제품을 산다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 연상은 3년째 상승 중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Gen Z 반응 확인, 규모 미계측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민감층은 다이소로 이탈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2048256"/>
            <a:ext cx="3401568" cy="3657600"/>
          </a:xfrm>
          <a:prstGeom prst="roundRect">
            <a:avLst>
              <a:gd name="adj" fmla="val 2151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49056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Competitor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49056" y="274320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올리브영 — 경쟁자이자 생명선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인디브랜드 — 어워즈 4중 3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다이소 — MAU 516만 (+42.3%)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아리따움 −28.7% vs 이니스프리 −41.4%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코스알엑스 — 그룹 내 성공 모델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A-2 · 5 FORCES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축 중 넷이 불리하다 — 브랜드가 유일한 방어막인 산업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2011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기존 경쟁자 간 경쟁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47872" y="201168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인디브랜드 폭증, 어워즈 4중 3. 규모의 경제가 방어막이 못 된다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040112" y="2249424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32720" y="2249424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25328" y="2249424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17936" y="2249424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10544" y="2249424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798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신규 진입 위협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47872" y="2798064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OEM/ODM 인프라로 제조 없이 브랜드 생성. 자본 장벽 사실상 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40112" y="3035808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32720" y="3035808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25328" y="3035808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17936" y="3035808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10544" y="3035808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844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구매자(유통) 교섭력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47872" y="358444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올리브영 단일 관문. 소비자 전환비용도 거의 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040112" y="3822192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32720" y="3822192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25328" y="3822192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17936" y="3822192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10544" y="3822192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3708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대체재 위협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47872" y="4370832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다이소 초저가가 하단을, 더마·시술이 상단을 잠식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040112" y="4608576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32720" y="4608576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25328" y="4608576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17936" y="4608576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210544" y="4608576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E3E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공급자 교섭력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47872" y="5157216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OEM 다수·원료 범용. 다섯 축 중 유일하게 유리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040112" y="5394960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00A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32720" y="5394960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E3E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25328" y="5394960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E3E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17936" y="5394960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E3E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210544" y="5394960"/>
            <a:ext cx="219456" cy="173736"/>
          </a:xfrm>
          <a:prstGeom prst="roundRect">
            <a:avLst>
              <a:gd name="adj" fmla="val 15789"/>
            </a:avLst>
          </a:prstGeom>
          <a:solidFill>
            <a:srgbClr val="E3E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5705856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구조에서 브랜드는 방어막이 아니라 유일한 방어막이다. 그런데 접점 210개를 3년 만에 잃었다.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A-3 · PESTEL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환경은 불리하지 않다 — 대체 접점 통로가 열려 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2066544"/>
          <a:ext cx="10762488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223760"/>
                <a:gridCol w="1344168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변화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Political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K-뷰티 수출 지원 확대, 가맹 정보공개서 등록 의무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Economic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내수 위축·고환율, 온라인 화장품 거래액 +20.4%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혼재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Social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Gen Z의 경험·팬덤 소비, 오프라인 체험형 재부상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Technological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검색 → 제로클릭 증가, AEO/GEO 부상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Environmental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클린뷰티·비건 정착, 그린워싱 규제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Legal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표시광고 심사 강화, 가맹 상생, 개인정보 제약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위협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13232" y="5486400"/>
            <a:ext cx="10762488" cy="603504"/>
          </a:xfrm>
          <a:prstGeom prst="roundRect">
            <a:avLst>
              <a:gd name="adj" fmla="val 12121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486400"/>
            <a:ext cx="10140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6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Social(체험 소비)과 Technological(AI 검색)이 사라진 오프라인 접점을 대체할 통로를 열어주고 있다.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A-4 · SWOT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3C·5F·PESTEL에서 도출된 항목만 배치했다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13232" y="2011680"/>
            <a:ext cx="5138928" cy="1920240"/>
          </a:xfrm>
          <a:prstGeom prst="roundRect">
            <a:avLst>
              <a:gd name="adj" fmla="val 3810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1762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Strengths 강점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45720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경쟁력 증명 [3C]</a:t>
            </a:r>
            <a:endParaRPr lang="en-US" sz="98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구조 정상화 6.3% [3C]</a:t>
            </a:r>
            <a:endParaRPr lang="en-US" sz="98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 자산 잔존 1.87% [3C]</a:t>
            </a:r>
            <a:endParaRPr lang="en-US" sz="98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채널 보유 [3C]</a:t>
            </a:r>
            <a:endParaRPr lang="en-US" sz="98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공급자 교섭력 우위 [5F⑤]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336792" y="2011680"/>
            <a:ext cx="5138928" cy="1920240"/>
          </a:xfrm>
          <a:prstGeom prst="roundRect">
            <a:avLst>
              <a:gd name="adj" fmla="val 3810"/>
            </a:avLst>
          </a:prstGeom>
          <a:solidFill>
            <a:srgbClr val="FDEE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47688" y="21762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Weaknesses 약점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47688" y="2505456"/>
            <a:ext cx="45720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접점 소멸 400→190 [3C]</a:t>
            </a:r>
            <a:endParaRPr lang="en-US" sz="98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관심 −72.9% [3C]</a:t>
            </a:r>
            <a:endParaRPr lang="en-US" sz="98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제품→브랜드 단절 r=−0.03 [3C]</a:t>
            </a:r>
            <a:endParaRPr lang="en-US" sz="98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신규개점 3년간 1개 [3C]</a:t>
            </a:r>
            <a:endParaRPr lang="en-US" sz="98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확장·전환 자원 분산 [본문]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713232" y="4041648"/>
            <a:ext cx="5138928" cy="1920240"/>
          </a:xfrm>
          <a:prstGeom prst="roundRect">
            <a:avLst>
              <a:gd name="adj" fmla="val 3810"/>
            </a:avLst>
          </a:prstGeom>
          <a:solidFill>
            <a:srgbClr val="FDF6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4206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A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Opportunities 기회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24128" y="4535424"/>
            <a:ext cx="45720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체험·팬덤 소비 부상 [PESTEL·S]</a:t>
            </a:r>
            <a:endParaRPr lang="en-US" sz="98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검색·AEO 접점 [PESTEL·T]</a:t>
            </a:r>
            <a:endParaRPr lang="en-US" sz="98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클린뷰티 → 제주 재활용 [PESTEL·E]</a:t>
            </a:r>
            <a:endParaRPr lang="en-US" sz="98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거래액 +20.4% [PESTEL·E]</a:t>
            </a:r>
            <a:endParaRPr lang="en-US" sz="98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내 성공 모델 존재 [3C]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336792" y="4041648"/>
            <a:ext cx="5138928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4206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Threats 위협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47688" y="4535424"/>
            <a:ext cx="45720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인디브랜드 경쟁 심화 [5F①]</a:t>
            </a:r>
            <a:endParaRPr lang="en-US" sz="98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진입장벽 소멸 [5F②]</a:t>
            </a:r>
            <a:endParaRPr lang="en-US" sz="98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유통 교섭력 집중 [5F③]</a:t>
            </a:r>
            <a:endParaRPr lang="en-US" sz="98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다이소·더마 대체 압박 [5F④]</a:t>
            </a:r>
            <a:endParaRPr lang="en-US" sz="98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제로클릭 확산 [PESTEL·T]</a:t>
            </a:r>
            <a:endParaRPr lang="en-US" sz="9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A-5 · 원자료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장으로 보는 7개년 데이터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2103120"/>
          <a:ext cx="10762488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83080"/>
                <a:gridCol w="1600200"/>
                <a:gridCol w="1783080"/>
                <a:gridCol w="1600200"/>
                <a:gridCol w="1691640"/>
                <a:gridCol w="932688"/>
              </a:tblGrid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매출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영업이익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광고선전비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가맹점 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브랜드 검색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제품 검색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5,518.6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626.0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389.6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3,486.0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264.6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3,071.7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−9.6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261.3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8.503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2,997.4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324.0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243.6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6.903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 ★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2,738.0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103.2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344.9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5.251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2,246.1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273.9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3.228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2,098.5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133.5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247.6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 *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13232" y="5541264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 억원 · ★ 리브랜딩 · 가맹점 수는 연말 기준 공정위 정보공개서(법정 등록) · * 2025년만 가맹점협의회 주장치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13232" y="5797296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검색지수는 상대지수로 그룹 간 절대 비교 불가. 같은 그룹의 시점 간 비교와 비율만 유효하다.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A-6 · 방법론과 한계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증명한 것과 증명하지 못한 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13232" y="2011680"/>
            <a:ext cx="5138928" cy="3749040"/>
          </a:xfrm>
          <a:prstGeom prst="roundRect">
            <a:avLst>
              <a:gd name="adj" fmla="val 1951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2311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방법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2416" y="2615184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감사보고서 6건의 당기·전기를 교차 검증 — 전 구간 일치</a:t>
            </a:r>
            <a:endParaRPr lang="en-US" sz="108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가맹점 수는 공정위 법정 등록 수치 사용</a:t>
            </a:r>
            <a:endParaRPr lang="en-US" sz="108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대조군 2개로 채널 요인 통제 — 아리따움·토니모리</a:t>
            </a:r>
            <a:endParaRPr lang="en-US" sz="108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재무·검색·가맹 세 출처가 2023년에서 교차하는지 확인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336792" y="2011680"/>
            <a:ext cx="5138928" cy="3749040"/>
          </a:xfrm>
          <a:prstGeom prst="roundRect">
            <a:avLst>
              <a:gd name="adj" fmla="val 1951"/>
            </a:avLst>
          </a:prstGeom>
          <a:solidFill>
            <a:srgbClr val="FDEE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5976" y="22311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— 먼저 밝힌다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65976" y="2615184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 분석 n=4~5 — “상관이 관찰된다”까지만 유효</a:t>
            </a:r>
            <a:endParaRPr lang="en-US" sz="108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역인과(수요 감소 → 폐점)를 배제할 수 없음</a:t>
            </a:r>
            <a:endParaRPr lang="en-US" sz="108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Gen Z TAM·SAM 미계측 — 계열사 공급액으로 근사</a:t>
            </a:r>
            <a:endParaRPr lang="en-US" sz="108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페스티벌 효과 미검증 — 벤치마크 없는 가설</a:t>
            </a:r>
            <a:endParaRPr lang="en-US" sz="108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AEO 인용 점유율 미실측</a:t>
            </a:r>
            <a:endParaRPr lang="en-US" sz="108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광고선전비 ≠ 전체 마케팅비 (광고+판촉 450.5억, 1.6배)</a:t>
            </a:r>
            <a:endParaRPr lang="en-US" sz="10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spc="-300" kern="0" dirty="0">
                <a:solidFill>
                  <a:srgbClr val="1D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713232" y="2606040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MONITORING &amp; QUICK 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2962656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3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모니터링과 빠른 액션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39319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제안이 실행되는지 어떻게 확인할 것인가.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체계 · 30·60·90일 액션 · 중단과 확대의 기준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D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모니터링 · 지표 체계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볼 것인가 — 다섯 개면 충분하다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팀이 직접 수집 가능하고, 네 개는 무료다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2103120"/>
          <a:ext cx="10762488" cy="914400"/>
        </p:xfrm>
        <a:graphic>
          <a:graphicData uri="http://schemas.openxmlformats.org/drawingml/2006/table">
            <a:tbl>
              <a:tblPr/>
              <a:tblGrid>
                <a:gridCol w="603504"/>
                <a:gridCol w="3017520"/>
                <a:gridCol w="3200400"/>
                <a:gridCol w="1188720"/>
                <a:gridCol w="2752344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수집처 · 주기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브랜드 검색지수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네이버 데이터랩 · 월간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전년 동월비 하락폭 축소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30일 내 2회차 구매율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자사몰 CRM · 월간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+3%p (180일)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접점 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가맹점 + 팝업 + 이벤트 · 분기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공시·내부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순증 전환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인용 점유율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 20개 실측 · 월간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경쟁사 대비 우위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계승 언급률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리뷰 100건당 코딩 · 분기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제주·헤리티지 언급 증가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13232" y="5504688"/>
            <a:ext cx="10762488" cy="566928"/>
          </a:xfrm>
          <a:prstGeom prst="roundRect">
            <a:avLst>
              <a:gd name="adj" fmla="val 12903"/>
            </a:avLst>
          </a:prstGeom>
          <a:solidFill>
            <a:srgbClr val="EAF7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5504688"/>
            <a:ext cx="10140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6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1번이 최우선이다. 접점 수와 브랜드 검색의 상관이 r = 0.98이었으므로, 접점을 늘렸을 때 검색이 반응하는지가 곧 가설 검증이 된다.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액션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· 60 · 90일 — 예산 승인 없이 시작할 수 있는 것부터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굵은 항목은 비용이 거의 들지 않아 이번 주에 착수 가능하다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20482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30일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13232" y="2615184"/>
            <a:ext cx="3401568" cy="3108960"/>
          </a:xfrm>
          <a:prstGeom prst="roundRect">
            <a:avLst>
              <a:gd name="adj" fmla="val 2353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89504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검색 기준선 확정 (5년 월간)</a:t>
            </a:r>
            <a:endParaRPr lang="en-US" sz="108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AEO 질문 세트 20개 설계 + 1차 실측</a:t>
            </a:r>
            <a:endParaRPr lang="en-US" sz="108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랜딩페이지 A안 배포 — “무엇이 왜 바뀌었나”</a:t>
            </a:r>
            <a:endParaRPr lang="en-US" sz="108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앰플 구매자 CRM 세그먼트 정의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425696" y="20482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60일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425696" y="2615184"/>
            <a:ext cx="3401568" cy="3108960"/>
          </a:xfrm>
          <a:prstGeom prst="roundRect">
            <a:avLst>
              <a:gd name="adj" fmla="val 2353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2889504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30일 루틴 전환 캠페인 파일럿</a:t>
            </a:r>
            <a:endParaRPr lang="en-US" sz="108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팝업 1회 테스트 — 전후 검색 반응 측정</a:t>
            </a:r>
            <a:endParaRPr lang="en-US" sz="108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계승 언급률 1차 코딩 (2인 독립)</a:t>
            </a:r>
            <a:endParaRPr lang="en-US" sz="108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AEO 2차 실측 — 변화 추적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138160" y="20482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90일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138160" y="2615184"/>
            <a:ext cx="3401568" cy="3108960"/>
          </a:xfrm>
          <a:prstGeom prst="roundRect">
            <a:avLst>
              <a:gd name="adj" fmla="val 2353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056" y="2889504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페스티벌 컨셉·예산안 작성</a:t>
            </a:r>
            <a:endParaRPr lang="en-US" sz="108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3년 로드맵 + 게이트 기준 승인 요청</a:t>
            </a:r>
            <a:endParaRPr lang="en-US" sz="108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국내/해외 예산·KPI 분리안 제출</a:t>
            </a:r>
            <a:endParaRPr lang="en-US" sz="108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 1차 판정</a:t>
            </a:r>
            <a:endParaRPr lang="en-US" sz="10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중단과 확대의 기준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게이트를 시작 전에 합의한다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만의 철회가 반복되지 않으려면, 판단 기준을 사후가 아니라 사전에 정해야 한다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D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10762488" cy="969264"/>
          </a:xfrm>
          <a:prstGeom prst="roundRect">
            <a:avLst>
              <a:gd name="adj" fmla="val 7547"/>
            </a:avLst>
          </a:prstGeom>
          <a:solidFill>
            <a:srgbClr val="191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286000"/>
            <a:ext cx="1280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90일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50592" y="2286000"/>
            <a:ext cx="4572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검색 전년 동월비 하락폭이 축소되었는가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205472" y="2286000"/>
            <a:ext cx="4114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축소 → 계속 / 악화 → 실행 방식 재검토(중단 아님)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3456432"/>
            <a:ext cx="10762488" cy="969264"/>
          </a:xfrm>
          <a:prstGeom prst="roundRect">
            <a:avLst>
              <a:gd name="adj" fmla="val 7547"/>
            </a:avLst>
          </a:prstGeom>
          <a:solidFill>
            <a:srgbClr val="191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456432"/>
            <a:ext cx="1280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180일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50592" y="3456432"/>
            <a:ext cx="4572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30일 내 2회차 구매율 +3%p 달성했는가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205472" y="3456432"/>
            <a:ext cx="4114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달성 → 페스티벌 예산 승인 / 미달 → 브리지 설계 수정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" y="4626864"/>
            <a:ext cx="10762488" cy="969264"/>
          </a:xfrm>
          <a:prstGeom prst="roundRect">
            <a:avLst>
              <a:gd name="adj" fmla="val 7547"/>
            </a:avLst>
          </a:prstGeom>
          <a:solidFill>
            <a:srgbClr val="191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626864"/>
            <a:ext cx="1280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360일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450592" y="4626864"/>
            <a:ext cx="4572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페스티벌 전후 브랜드 검색 +10% 반응했는가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05472" y="4626864"/>
            <a:ext cx="4114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 → 연례 자산화 / 무반응 → 접점 수단 교체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5760720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미달이 곧 중단이 아니다 — 1년차 부진이 자동 철회로 이어지는 구조가 2024년의 실패였다.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1371600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프로젝트가 남기는 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1847088"/>
            <a:ext cx="10762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000" b="1" spc="-14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리브랜딩은 성공했다.</a:t>
            </a:r>
            <a:endParaRPr lang="en-US" sz="4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000" b="1" spc="-14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성장은 지금부터 만든다.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13232" y="36576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실패요인 5개는 모두 “무엇을 바꿨나”가 아니라 “바꾼 뒤에 무엇을 하지 않았나”에서 나왔다.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해결법 5개는 전부 이미 가진 자산 — 1위 제품, 제주 연상, 열린 환경 — 위에 서 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5029200"/>
            <a:ext cx="10762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 진단 · 캡스톤 팀 프로젝트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D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이니스프리 리브랜딩 진단 — 캡스톤 산출문</dc:title>
  <dc:subject>PptxGenJS Presentation</dc:subject>
  <dc:creator>캡스톤 팀 프로젝트</dc:creator>
  <cp:lastModifiedBy>캡스톤 팀 프로젝트</cp:lastModifiedBy>
  <cp:revision>1</cp:revision>
  <dcterms:created xsi:type="dcterms:W3CDTF">2026-08-18T07:09:23Z</dcterms:created>
  <dcterms:modified xsi:type="dcterms:W3CDTF">2026-08-18T07:09:23Z</dcterms:modified>
</cp:coreProperties>
</file>