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12AAFF-8DBF-5D18-0B6A-17847B6E86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51780A-C685-D4DF-1AA0-BEFB98164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2E2387-AEE9-D1FD-E39E-02E1F2DF9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173D13-E89C-0673-13F5-5D963AE7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54FD88-ABAD-92A9-22C0-7A18764BF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607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7577A9-AB6E-00D6-9593-F5FBEE26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004E94-93EC-E480-204D-F4E36F4F9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65B334-4AC6-C47B-DD53-8231342FA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D3FC1-A4C1-B102-BF26-8B4D6E88B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ADDF57-5720-E00C-A6AB-3D979101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0690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4D8AC-0A48-20C8-03FE-BEFF381FB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8B0D8EB-3ADA-BC01-EDAC-E9520A2A4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A108CA-DE02-1F2F-6F63-68962F5F4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14ECEC-E45A-DCD8-87A4-AC80027B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4DE64D-D586-16F7-EB1E-47A79B351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597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90A4FC-A0D5-214A-01FB-8EB36B465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ADB918-1FDB-9248-D308-C79841EF6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A016E3-ADB6-C06A-4C9B-CE02A9498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6264FF-F7E0-E9A0-0ACC-74C0F77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1A2FE0-3AEA-1682-E0CF-7BC2A25A8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23F619-F6A8-F0DF-2B87-81A9D7AD2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30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F9798-A5B0-1EF0-90FB-4FF9F32BE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9460FA-28DC-4A55-11FA-B2E8A5E6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65A71E8-785B-BFC8-8CB7-4A435AFB9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E5F38CE-7108-BF6D-398D-B60AEA77AE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79E20C-1FBC-46DB-83C3-036F0ADC9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0A2A6D-2329-3E1C-052F-94AF0BBE2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6FDC79-B3E9-BDAC-5DA5-CE30283D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A2BCA0-D930-760D-E96F-FD5D5646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077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9C9F2-61F5-42B5-A31E-31D12A1A2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6DDAA1-A608-FF77-36F1-4AF1281F0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D4662F-8A8A-9C84-6F02-7B34BD281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3EFFE1-1686-E0C7-FE92-715D81F2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96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2E7B5AD-A5FA-C991-A195-DB9B818C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3051FC8-5596-CCA6-BA83-A7C4CC914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AAAB3-C92D-B4F2-6F89-A3B97E9F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08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5FFF4D-71DC-235B-3D04-19CFC3F4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03973-050C-3401-1B76-83BE54DD3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5F3BFC-BE84-EFFA-E9C2-D58AB6427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6B0166-10B3-8FEF-1BEB-98F608C8A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4E1385-CD3B-14B5-C278-A55D0EFD0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D4B9CB-D444-5164-5A7C-EA813A76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010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4B5D8F-8600-AF4D-28C4-53025F26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8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664DA1B-5828-BE17-6A83-C1884F5CB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1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0A8A-5205-1B3C-AC95-E31ED10F7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8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D46F1A-79F7-89C5-2BF0-9740D536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64C6DAC-E2F4-D154-71C0-B5B6DB19B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7D3C64D-E882-5CBD-D382-9E1B89FA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19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DBB853-3562-97A1-6F94-C4437745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71884C1-80B8-D815-5905-D1B692FAF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630E9E-E0EE-A94D-7DBB-1092BAABC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1D15E7-752C-CBFD-0959-2B56434DA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2524BB-CDFC-1EE6-CB8A-296B5BEE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541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A7C4E67-D2EE-21BB-CBA4-E9BAB1D52B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A982AC-A507-0224-295D-30B3CDC3AB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36B410-6C7C-5724-58EC-3E270636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73C749-2817-5EC2-F51F-C949B42D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6EEFCC-7228-3549-8552-98A59B88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342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3A2E27-F57A-23E0-83BE-D43519E0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574A81-D4DF-0993-BFBA-5D0D90BA6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5858C0-A91B-1CE5-7E99-5B30D3F3F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E0DB9-E7F5-41BD-AFAF-2F44D82E7C4C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1FC19E-56EB-90FD-79F4-2311E927D5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231CCA-67D2-BAA2-6612-155E52DDD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7FE99-B20E-488E-A63F-FD557161C5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84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42950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1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1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1647B8-6830-9EEF-BD1A-F0FBFFFD4A6F}"/>
              </a:ext>
            </a:extLst>
          </p:cNvPr>
          <p:cNvSpPr txBox="1"/>
          <p:nvPr/>
        </p:nvSpPr>
        <p:spPr>
          <a:xfrm>
            <a:off x="736600" y="584200"/>
            <a:ext cx="2648225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ko-KR" sz="1200" b="1">
                <a:solidFill>
                  <a:srgbClr val="9FB89A"/>
                </a:solidFill>
                <a:latin typeface="맑은 고딕" panose="020B0503020000020004" pitchFamily="50" charset="-127"/>
              </a:rPr>
              <a:t>CAPSTONE · BRAND MARKETING</a:t>
            </a:r>
            <a:endParaRPr lang="ko-KR" altLang="en-US" sz="1200" b="1">
              <a:solidFill>
                <a:srgbClr val="9FB89A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C4F9F0-4FA0-DB32-0E4D-196DCFB71B03}"/>
              </a:ext>
            </a:extLst>
          </p:cNvPr>
          <p:cNvSpPr txBox="1"/>
          <p:nvPr/>
        </p:nvSpPr>
        <p:spPr>
          <a:xfrm>
            <a:off x="736600" y="1092200"/>
            <a:ext cx="107188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4000" b="1">
                <a:solidFill>
                  <a:srgbClr val="E8E2D6"/>
                </a:solidFill>
                <a:latin typeface="맑은 고딕" panose="020B0503020000020004" pitchFamily="50" charset="-127"/>
              </a:rPr>
              <a:t>이니스프리</a:t>
            </a:r>
          </a:p>
          <a:p>
            <a:r>
              <a:rPr lang="ko-KR" altLang="en-US" sz="4000" b="1">
                <a:solidFill>
                  <a:srgbClr val="E8E2D6"/>
                </a:solidFill>
                <a:latin typeface="맑은 고딕" panose="020B0503020000020004" pitchFamily="50" charset="-127"/>
              </a:rPr>
              <a:t>브랜딩 성장 전략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4621D4-EAFB-D732-CD15-469EB373899C}"/>
              </a:ext>
            </a:extLst>
          </p:cNvPr>
          <p:cNvSpPr txBox="1"/>
          <p:nvPr/>
        </p:nvSpPr>
        <p:spPr>
          <a:xfrm>
            <a:off x="736600" y="2743200"/>
            <a:ext cx="10718800" cy="5312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2023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년 리브랜딩 이후 브랜드 인지도에 무슨 일이 있었는가 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—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공개 데이터로 진단하고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같은 지표로 회복을 추적한다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E8E2D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3AE85-7C6D-F85D-37D4-FA6DA2214CA1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9FB89A"/>
                </a:solidFill>
                <a:latin typeface="맑은 고딕" panose="020B0503020000020004" pitchFamily="50" charset="-127"/>
              </a:rPr>
              <a:t>1</a:t>
            </a:r>
            <a:endParaRPr lang="ko-KR" altLang="en-US" sz="1000">
              <a:solidFill>
                <a:srgbClr val="9FB89A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5166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929F97-3854-F943-5C7E-9B362C4CF0E6}"/>
              </a:ext>
            </a:extLst>
          </p:cNvPr>
          <p:cNvSpPr txBox="1"/>
          <p:nvPr/>
        </p:nvSpPr>
        <p:spPr>
          <a:xfrm>
            <a:off x="736600" y="584200"/>
            <a:ext cx="800219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9FB89A"/>
                </a:solidFill>
                <a:latin typeface="맑은 고딕" panose="020B0503020000020004" pitchFamily="50" charset="-127"/>
              </a:rPr>
              <a:t>결론부터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92016A-94E0-D94C-623C-7BDFB1B55242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리브랜딩은 화제를 만들었지만</a:t>
            </a:r>
          </a:p>
          <a:p>
            <a:r>
              <a:rPr lang="ko-KR" altLang="en-US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브랜드 인지도는 만들지 못했다</a:t>
            </a:r>
            <a:r>
              <a:rPr lang="en-US" altLang="ko-KR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  <a:endParaRPr lang="ko-KR" altLang="en-US" sz="3000" b="1">
              <a:solidFill>
                <a:srgbClr val="E8E2D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111D7-F84C-41B0-31FC-E78E68F4BFC7}"/>
              </a:ext>
            </a:extLst>
          </p:cNvPr>
          <p:cNvSpPr txBox="1"/>
          <p:nvPr/>
        </p:nvSpPr>
        <p:spPr>
          <a:xfrm>
            <a:off x="736600" y="2743200"/>
            <a:ext cx="10718800" cy="21417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146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배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리브랜딩 인지 검색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(2023, 6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개월 만에 소멸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−23.9%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같은 해 브랜드 검색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화제는 났지만 수요는 아님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−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72.9%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년 누적 브랜드 검색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2021 → 2025</a:t>
            </a:r>
            <a:endParaRPr lang="ko-KR" altLang="en-US" sz="1300">
              <a:solidFill>
                <a:srgbClr val="E8E2D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C7DE67-0966-1A49-3F48-41762C458A0A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9FB89A"/>
                </a:solidFill>
                <a:latin typeface="맑은 고딕" panose="020B0503020000020004" pitchFamily="50" charset="-127"/>
              </a:rPr>
              <a:t>2</a:t>
            </a:r>
            <a:endParaRPr lang="ko-KR" altLang="en-US" sz="1000">
              <a:solidFill>
                <a:srgbClr val="9FB89A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3006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0DF991-01BF-4569-F510-FBEA00B3DE90}"/>
              </a:ext>
            </a:extLst>
          </p:cNvPr>
          <p:cNvSpPr txBox="1"/>
          <p:nvPr/>
        </p:nvSpPr>
        <p:spPr>
          <a:xfrm>
            <a:off x="736600" y="584200"/>
            <a:ext cx="2122697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2023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2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무엇을 바꿨나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C8A5D2-CCFA-3E9A-D1AC-F4A2D2326116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이름과 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자연주의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를 빼면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거의 전부를 바꿨다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549E0-9FF4-4A27-D2ED-1CAD22AF9963}"/>
              </a:ext>
            </a:extLst>
          </p:cNvPr>
          <p:cNvSpPr txBox="1"/>
          <p:nvPr/>
        </p:nvSpPr>
        <p:spPr>
          <a:xfrm>
            <a:off x="736600" y="2743200"/>
            <a:ext cx="10718800" cy="1451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항목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이전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이후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세계관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제주도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실재하는 섬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THE NEW ISLE 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가상의 섬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로고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소문자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innisfree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대문자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INNISFREE  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키 컬러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비자림 짙은 녹색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액티브 그린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타깃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자연주의 선호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2030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해외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 Gen Z  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 이상 유지한 제주 정체성을 가상의 섬으로 대체한 것이 핵심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용기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라인업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모델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매장 인테리어까지 전면 교체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ECDC9-C547-910F-538A-A64B1CC2779C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3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38876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166F7-0C62-9856-F1E5-0DFF921558C9}"/>
              </a:ext>
            </a:extLst>
          </p:cNvPr>
          <p:cNvSpPr txBox="1"/>
          <p:nvPr/>
        </p:nvSpPr>
        <p:spPr>
          <a:xfrm>
            <a:off x="736600" y="584200"/>
            <a:ext cx="492443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진단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7E6BAB-7D93-9E8B-6DC3-B9592BECC77F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브랜드 인지도에서 확인된 문제 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1E22B6-4623-C199-2914-AC581127CB82}"/>
              </a:ext>
            </a:extLst>
          </p:cNvPr>
          <p:cNvSpPr txBox="1"/>
          <p:nvPr/>
        </p:nvSpPr>
        <p:spPr>
          <a:xfrm>
            <a:off x="736600" y="2743200"/>
            <a:ext cx="10718800" cy="26018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매출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수익성이 아니라 소비자의 인식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검색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연상을 직접 측정한 것만 추렸다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헤리티지 서사 단절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B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광고가 인지도로 전환되지 않음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C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오프라인 접점 소멸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D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제품↔브랜드 단절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E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제로클릭 대응 부재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D638A-A2C0-1C47-9EAB-BB93C7756932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4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49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56D9F2-27F5-DBE7-3B0F-32B00FD9304E}"/>
              </a:ext>
            </a:extLst>
          </p:cNvPr>
          <p:cNvSpPr txBox="1"/>
          <p:nvPr/>
        </p:nvSpPr>
        <p:spPr>
          <a:xfrm>
            <a:off x="736600" y="584200"/>
            <a:ext cx="655949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문제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A</a:t>
            </a:r>
            <a:endParaRPr lang="ko-KR" altLang="en-US" sz="1200" b="1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8C9AF3-F8D0-BC4F-C019-1B7452975C8A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회사는 제주를 뗐는데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소비자는 안 뗐다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2FB3E-9ACD-A823-C9B3-A862E7FD3F55}"/>
              </a:ext>
            </a:extLst>
          </p:cNvPr>
          <p:cNvSpPr txBox="1"/>
          <p:nvPr/>
        </p:nvSpPr>
        <p:spPr>
          <a:xfrm>
            <a:off x="736600" y="2743200"/>
            <a:ext cx="10718800" cy="283314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0.34% → 0.52%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검색 대비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이니스프리 제주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단독 비중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(2021→2025)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전체보다 오래 버텼다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0 / 220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회사가 집행한 메타 광고 중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헤리티지를 언급한 광고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소비자 반응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비자림의 짙은 녹음이 사라졌다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헤리티지가 안 보인다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"IT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회사 로고 같다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디자인나침반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2023-02 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매드타임스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2023-06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읽는 법 비중이 오른 건 제주가 늘어서가 아니라 분모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검색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가 더 빨리 무너져서다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절대 검색도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년간 −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59%.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8B18FE-52AD-9500-9579-7B6B0CF99004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5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2524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C97D2-5C54-F99C-00E2-DCBB96433A43}"/>
              </a:ext>
            </a:extLst>
          </p:cNvPr>
          <p:cNvSpPr txBox="1"/>
          <p:nvPr/>
        </p:nvSpPr>
        <p:spPr>
          <a:xfrm>
            <a:off x="736600" y="584200"/>
            <a:ext cx="64472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문제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B</a:t>
            </a:r>
            <a:endParaRPr lang="ko-KR" altLang="en-US" sz="1200" b="1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99C21A-308A-4520-2EDA-0DC53B2B403A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돈은 브랜드가 아니라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제품으로만 갔다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F74B2D-BC35-7679-E72F-33ED84208DCF}"/>
              </a:ext>
            </a:extLst>
          </p:cNvPr>
          <p:cNvSpPr txBox="1"/>
          <p:nvPr/>
        </p:nvSpPr>
        <p:spPr>
          <a:xfrm>
            <a:off x="736600" y="2743200"/>
            <a:ext cx="10718800" cy="23730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r = −0.03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광고선전비 ↔ 브랜드 검색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사실상 무상관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r = +0.69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광고선전비 ↔ 제품 검색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뚜렷하게 연결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−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20.6%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2024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 광고비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+41.6%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증액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 만에 철회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그리고 광고비를 줄인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2024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검색은 −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38.5%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 중 가장 크게 빠졌다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낙폭이 가장 큰 해가 정확히 지원을 끊은 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65F00B-EF29-331E-B222-97E9B0BD5894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6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8036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190550-0186-1CA5-E6B5-02BED7944187}"/>
              </a:ext>
            </a:extLst>
          </p:cNvPr>
          <p:cNvSpPr txBox="1"/>
          <p:nvPr/>
        </p:nvSpPr>
        <p:spPr>
          <a:xfrm>
            <a:off x="736600" y="584200"/>
            <a:ext cx="644728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문제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C</a:t>
            </a:r>
            <a:endParaRPr lang="ko-KR" altLang="en-US" sz="1200" b="1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0156DA-EBF2-3AA2-E1D5-586DEE15826D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매장은 판매 채널이기 전에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매일 브랜드를 보여주던 무료 매체였다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1DD611-3345-F330-1606-B53E8B30282C}"/>
              </a:ext>
            </a:extLst>
          </p:cNvPr>
          <p:cNvSpPr txBox="1"/>
          <p:nvPr/>
        </p:nvSpPr>
        <p:spPr>
          <a:xfrm>
            <a:off x="736600" y="2743200"/>
            <a:ext cx="10718800" cy="16816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400 → 190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로드샵 매장 수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(2021 → 2024,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공정위 기준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 만에 절반 이하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r = 0.98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매장 수 ↔ 브랜드 검색지수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프로젝트 전체에서 가장 강한 연결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주의 상관이지 인과가 아니다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n=4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로 표본이 작고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수요 감소 → 폐점이라는 역인과를 배제하지 못한다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2407A0-6D24-9419-A93D-8B21BC18E323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7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00585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3EB384-E43E-7C28-73FF-D112486FA56E}"/>
              </a:ext>
            </a:extLst>
          </p:cNvPr>
          <p:cNvSpPr txBox="1"/>
          <p:nvPr/>
        </p:nvSpPr>
        <p:spPr>
          <a:xfrm>
            <a:off x="736600" y="584200"/>
            <a:ext cx="66236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문제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D</a:t>
            </a:r>
            <a:endParaRPr lang="ko-KR" altLang="en-US" sz="1200" b="1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BB8B74-CF7A-212A-1E51-347167B8E9D2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제품은 팔리는데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그게 브랜드로 안 쌓인다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1A143-69A8-E3FC-559B-15484BA72417}"/>
              </a:ext>
            </a:extLst>
          </p:cNvPr>
          <p:cNvSpPr txBox="1"/>
          <p:nvPr/>
        </p:nvSpPr>
        <p:spPr>
          <a:xfrm>
            <a:off x="736600" y="2743200"/>
            <a:ext cx="10718800" cy="19116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+118.5%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제품군 검색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레티놀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앰플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2022 → 2023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−23.9%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같은 기간 브랜드 검색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정반대로 움직였다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같은 해에 벌어진 일이다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브랜드를 새로 세운다며 광고비를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41.6%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늘렸는데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그 돈이 만든 것은 브랜드가 아니라 제품 한 줄이었다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제품군 비중은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1.07%(2021) → 11.67%(2025)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로 늘었다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A5F0F2-3BA6-BABF-D0CF-EEFDCC926FE1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8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51816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A1FBAF-F711-D2AD-C2CE-BD7D4D6E9298}"/>
              </a:ext>
            </a:extLst>
          </p:cNvPr>
          <p:cNvSpPr txBox="1"/>
          <p:nvPr/>
        </p:nvSpPr>
        <p:spPr>
          <a:xfrm>
            <a:off x="736600" y="584200"/>
            <a:ext cx="63030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문제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E</a:t>
            </a:r>
            <a:endParaRPr lang="ko-KR" altLang="en-US" sz="1200" b="1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44BB7-D0C6-5A9E-452F-84115FCBC249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가 인용할 수 없는 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3F86AE-4333-E2BB-ADEF-43ECD4E14D9A}"/>
              </a:ext>
            </a:extLst>
          </p:cNvPr>
          <p:cNvSpPr txBox="1"/>
          <p:nvPr/>
        </p:nvSpPr>
        <p:spPr>
          <a:xfrm>
            <a:off x="736600" y="2743200"/>
            <a:ext cx="10718800" cy="260186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1 / 4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AEO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대응 충족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(2026-08-19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자동 점검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llms.txt  |  ✅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신설 확인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robots.txt AI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크롤러 규칙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❌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없음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FAQPage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스키마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❌ Organization  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FAQ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형 콘텐츠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❌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경로 미응답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69%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검색이 클릭 없이 종료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(zero-click,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업계 참고 지표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95% vs 35%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FAQ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형 콘텐츠의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인용률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vs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홈페이지형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한계 이건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영향을 관찰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한 게 아니라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취약점을 점검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한 것이다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실제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인용률은 아직 측정하지 않았다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2A66C-945E-AAD8-7C9B-2B7EE7378D4F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9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2081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441807-7BBD-DAC5-9FA2-22386AA04152}"/>
              </a:ext>
            </a:extLst>
          </p:cNvPr>
          <p:cNvSpPr txBox="1"/>
          <p:nvPr/>
        </p:nvSpPr>
        <p:spPr>
          <a:xfrm>
            <a:off x="736600" y="584200"/>
            <a:ext cx="85472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9FB89A"/>
                </a:solidFill>
                <a:latin typeface="맑은 고딕" panose="020B0503020000020004" pitchFamily="50" charset="-127"/>
              </a:rPr>
              <a:t>진단 종합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3A0B1-420A-6C50-7C10-B22B57F7C32D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다섯 문제가 한 곳으로 모인다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FA65D-8A55-DF9F-6D51-9EE10BFACB06}"/>
              </a:ext>
            </a:extLst>
          </p:cNvPr>
          <p:cNvSpPr txBox="1"/>
          <p:nvPr/>
        </p:nvSpPr>
        <p:spPr>
          <a:xfrm>
            <a:off x="736600" y="2743200"/>
            <a:ext cx="10718800" cy="9914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방향을 잘못 잡은 게 아니라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바꾼 뒤에 충분히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오래 닿지 않았다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헤리티지에 대한 관심은 여전히 살아 있다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문제 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A). 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방향이 틀렸다는 증거는 오히려 적다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20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년 쌓은 자산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제주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매장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을 대체할 새 접점을 만들지 않은 채 기존 접점만 줄인 것이 구조다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E8E2D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92072E-8BA5-30DB-6EBE-4AFA004BD2FA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9FB89A"/>
                </a:solidFill>
                <a:latin typeface="맑은 고딕" panose="020B0503020000020004" pitchFamily="50" charset="-127"/>
              </a:rPr>
              <a:t>10</a:t>
            </a:r>
            <a:endParaRPr lang="ko-KR" altLang="en-US" sz="1000">
              <a:solidFill>
                <a:srgbClr val="9FB89A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5766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CD3EDE-E8EE-7CB9-E676-112E498CC883}"/>
              </a:ext>
            </a:extLst>
          </p:cNvPr>
          <p:cNvSpPr txBox="1"/>
          <p:nvPr/>
        </p:nvSpPr>
        <p:spPr>
          <a:xfrm>
            <a:off x="736600" y="584200"/>
            <a:ext cx="1257075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시장분석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고객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853345-B4F7-5D6B-9382-E0915FCFB0A8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인지 대상이 셋으로 갈라져 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FDA7A-DD4F-4454-953D-377943CFAA91}"/>
              </a:ext>
            </a:extLst>
          </p:cNvPr>
          <p:cNvSpPr txBox="1"/>
          <p:nvPr/>
        </p:nvSpPr>
        <p:spPr>
          <a:xfrm>
            <a:off x="736600" y="2743200"/>
            <a:ext cx="10718800" cy="23718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헤리티지 고객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국내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이탈 중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연상은 살아있는데 접점이 사라져 멀어지는 층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헤리티지가 죽은 게 아니라 닿을 방법이 사라졌다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성분 탐색형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국내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현재 주력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브랜드가 아니라 제품을 산다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인지도 캠페인 반응이 가장 늦게 나타날 층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해외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Gen Z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스코프 밖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반응은 있었으나 매출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재무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지표뿐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인지도를 직접 잰 자료가 없어 다루지 않는다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헤리티지 고객은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이야기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를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성분 탐색형은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데이터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를 원한다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지금은 둘 사이 어디에도 서 있지 않다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4FC3A-7336-B81B-10D6-407FC39298D6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11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3912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5AF6D4-DAD7-B899-2704-11EF404F7D2F}"/>
              </a:ext>
            </a:extLst>
          </p:cNvPr>
          <p:cNvSpPr txBox="1"/>
          <p:nvPr/>
        </p:nvSpPr>
        <p:spPr>
          <a:xfrm>
            <a:off x="736600" y="584200"/>
            <a:ext cx="1257075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시장분석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경쟁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02630-9B99-4C48-D0B7-CDA3FEEC109A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네 브랜드 모두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브랜드 스토리텔링이 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건이다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D1A00A-E23C-8371-242B-745A81B75D46}"/>
              </a:ext>
            </a:extLst>
          </p:cNvPr>
          <p:cNvSpPr txBox="1"/>
          <p:nvPr/>
        </p:nvSpPr>
        <p:spPr>
          <a:xfrm>
            <a:off x="736600" y="2743200"/>
            <a:ext cx="10718800" cy="16816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메타 광고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스토리텔링 광고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특징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이니스프리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220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순위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재구매율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리뷰수 수치 중심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토니모리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64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할인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콜라보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미샤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4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물량 자체가 적음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다른 채널로 성장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3CE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참고군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~10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로레알 소유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색조 전문인데도 같은 패턴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이건 이니스프리에게 기회다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계열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카테고리가 완전히 다른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3CE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조차 서사가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건이라면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이는 개별 브랜드 문제가 아니라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K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뷰티 유통 구조의 공백이다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업계가 다 안 하는 걸 하나만 해도 차별화가 생긴다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C6D956-86F5-2033-4C79-3C933DC9F9E5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12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1390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04C3F2-0817-EC4A-D5B6-FC8B6AA74C38}"/>
              </a:ext>
            </a:extLst>
          </p:cNvPr>
          <p:cNvSpPr txBox="1"/>
          <p:nvPr/>
        </p:nvSpPr>
        <p:spPr>
          <a:xfrm>
            <a:off x="736600" y="584200"/>
            <a:ext cx="171874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시장분석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스위트스팟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F3F633-B0C5-037A-C1DC-C26AF8846C92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두 요구가 겹치는 지점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AEE90-B778-E32A-CB8B-39ECEEBC55EC}"/>
              </a:ext>
            </a:extLst>
          </p:cNvPr>
          <p:cNvSpPr txBox="1"/>
          <p:nvPr/>
        </p:nvSpPr>
        <p:spPr>
          <a:xfrm>
            <a:off x="736600" y="2743200"/>
            <a:ext cx="10718800" cy="23718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헤리티지 고객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이야기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그때 그 브랜드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겹치는 곳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입증된 원료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검증된 데이터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성분 탐색형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성분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효능 데이터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근거를 보여달라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원산지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 + 20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 축적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데이터 재입증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 셋을 동시에 가진 경쟁자가 확인되지 않는다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70035-530D-0B16-B86D-9AAE36712EB2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13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3547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57B3B9-A74E-51F0-1ECD-DC2C489E13F1}"/>
              </a:ext>
            </a:extLst>
          </p:cNvPr>
          <p:cNvSpPr txBox="1"/>
          <p:nvPr/>
        </p:nvSpPr>
        <p:spPr>
          <a:xfrm>
            <a:off x="736600" y="584200"/>
            <a:ext cx="1619354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시장분석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타깃 확정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53D743-68F9-0588-A571-05AF3AE5B426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헤리티지 이탈 고객 재활성화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91FDD-A2A3-4CC8-9E73-1B44DA92BA61}"/>
              </a:ext>
            </a:extLst>
          </p:cNvPr>
          <p:cNvSpPr txBox="1"/>
          <p:nvPr/>
        </p:nvSpPr>
        <p:spPr>
          <a:xfrm>
            <a:off x="736600" y="2743200"/>
            <a:ext cx="10718800" cy="1451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왜 이쪽인가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연상이 아직 살아 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문제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A).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브랜드를 새로 설득할 필요가 없고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이미 아는 사람에게 다시 닿는 일이다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이미 있는 자산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캠페인 무드보드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오랜만이에요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"(Reactivation)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가 이미 제작돼 있다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신규 제작 없이 착수 가능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단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시간이 있는 자산은 아니다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2025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년부터 제주 절대 검색이 브랜드보다 빨리 빠지기 시작했다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더 오래 버틴다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는 우위는 이미 끝났다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쓸 수 있을 때 써야 한다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685A4-30E7-5A16-4710-6A3F079B5050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14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539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CBBF17-7C15-D9C4-C74A-E941B272CC3B}"/>
              </a:ext>
            </a:extLst>
          </p:cNvPr>
          <p:cNvSpPr txBox="1"/>
          <p:nvPr/>
        </p:nvSpPr>
        <p:spPr>
          <a:xfrm>
            <a:off x="736600" y="584200"/>
            <a:ext cx="1619354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9FB89A"/>
                </a:solidFill>
                <a:latin typeface="맑은 고딕" panose="020B0503020000020004" pitchFamily="50" charset="-127"/>
              </a:rPr>
              <a:t>제안 전략 </a:t>
            </a:r>
            <a:r>
              <a:rPr lang="en-US" altLang="ko-KR" sz="1200" b="1">
                <a:solidFill>
                  <a:srgbClr val="9FB89A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200" b="1">
                <a:solidFill>
                  <a:srgbClr val="9FB89A"/>
                </a:solidFill>
                <a:latin typeface="맑은 고딕" panose="020B0503020000020004" pitchFamily="50" charset="-127"/>
              </a:rPr>
              <a:t>포지셔닝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3F2AA3-F6CD-E3EB-D5D1-1BECE303747C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그때 믿었던 게</a:t>
            </a:r>
            <a:r>
              <a:rPr lang="en-US" altLang="ko-KR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지금도 맞았다</a:t>
            </a:r>
            <a:r>
              <a:rPr lang="en-US" altLang="ko-KR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"</a:t>
            </a:r>
            <a:endParaRPr lang="ko-KR" altLang="en-US" sz="3000" b="1">
              <a:solidFill>
                <a:srgbClr val="E8E2D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EB42AE-0408-53A2-8BBD-43B53F487CB3}"/>
              </a:ext>
            </a:extLst>
          </p:cNvPr>
          <p:cNvSpPr txBox="1"/>
          <p:nvPr/>
        </p:nvSpPr>
        <p:spPr>
          <a:xfrm>
            <a:off x="736600" y="2743200"/>
            <a:ext cx="10718800" cy="9914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제주 헤리티지를 기억하는 자연주의 소비자에게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제주 원료 기반 스킨케어인 이니스프리는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확신의 회복을 줍니다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 20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년 축적된 원산지 자산과 그것을 데이터로 다시 증명하기 때문이고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,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성분 트렌드만 좇는 경쟁자와 달리 실제 산지 서사와 검증 데이터를 동시에 가집니다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한 단어로 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증명된 헤리티지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67AD2A-298C-4305-26AA-EA0C5DE298ED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9FB89A"/>
                </a:solidFill>
                <a:latin typeface="맑은 고딕" panose="020B0503020000020004" pitchFamily="50" charset="-127"/>
              </a:rPr>
              <a:t>15</a:t>
            </a:r>
            <a:endParaRPr lang="ko-KR" altLang="en-US" sz="1000">
              <a:solidFill>
                <a:srgbClr val="9FB89A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1203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5FE567-7798-E796-ED93-7930B93AF58D}"/>
              </a:ext>
            </a:extLst>
          </p:cNvPr>
          <p:cNvSpPr txBox="1"/>
          <p:nvPr/>
        </p:nvSpPr>
        <p:spPr>
          <a:xfrm>
            <a:off x="736600" y="584200"/>
            <a:ext cx="85472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자체 검증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017A96-226D-358B-AA07-D7AF7805E62E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THE NEW ISLE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이 실패한 그 기준으로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우리 문장도 검증한다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3610D3-75ED-A3DF-7BC3-9FFE4DDCB851}"/>
              </a:ext>
            </a:extLst>
          </p:cNvPr>
          <p:cNvSpPr txBox="1"/>
          <p:nvPr/>
        </p:nvSpPr>
        <p:spPr>
          <a:xfrm>
            <a:off x="736600" y="2743200"/>
            <a:ext cx="10718800" cy="12214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원칙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THE NEW ISLE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우리 문장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차별성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다름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가상 세계관은 구분됨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✅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원산지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+20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데이터 조합을 가진 경쟁자 없음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관련성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❌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어긋남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소비자 제주 연상은 유지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✅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스위트스팟에서 교집합 확인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신뢰성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(RTB)  |  ❌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부재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광고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220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 중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🔶 데이터는 있으나 아직 보여준 적이 없다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세 번째가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Part 4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의 존재 이유다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보여주지 않으면 이 문장도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THE NEW ISLE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과 같은 방식으로 신뢰성을 잃는다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154CBB-176F-02E9-B91A-A4D26D6A7B1C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16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3314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EA5494-DCA4-E5BB-00E7-9C093CCA8391}"/>
              </a:ext>
            </a:extLst>
          </p:cNvPr>
          <p:cNvSpPr txBox="1"/>
          <p:nvPr/>
        </p:nvSpPr>
        <p:spPr>
          <a:xfrm>
            <a:off x="736600" y="584200"/>
            <a:ext cx="1470274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크리에이티브 제안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F538CE-AD82-E023-A859-CEF5A0518FEF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문장을 보여줄 화면과 공간 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B6FB7B-6A64-F376-8FC4-7142B09949FE}"/>
              </a:ext>
            </a:extLst>
          </p:cNvPr>
          <p:cNvSpPr txBox="1"/>
          <p:nvPr/>
        </p:nvSpPr>
        <p:spPr>
          <a:xfrm>
            <a:off x="736600" y="2743200"/>
            <a:ext cx="10718800" cy="16816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이미 있는 자산의 재조명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무드보드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브랜드가 어떤 톤으로 말할 것인가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오프라인 거점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'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공병공간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확장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신규 제작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랜딩페이지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무엇이 왜 바뀌었는지 선언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상세페이지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제품에서 브랜드로 건너가는 다리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절반이 이미 있는 자산이다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이니스프리에게 부족했던 건 자산이 아니라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그 자산을 인지도로 연결하는 실행이었다는 진단과 일치한다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566EEB-10E4-607F-6418-8312A0F82372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17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21356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CC0159-EFFE-0A58-F7D7-0106A1BCFB2D}"/>
              </a:ext>
            </a:extLst>
          </p:cNvPr>
          <p:cNvSpPr txBox="1"/>
          <p:nvPr/>
        </p:nvSpPr>
        <p:spPr>
          <a:xfrm>
            <a:off x="736600" y="584200"/>
            <a:ext cx="1546064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Part 4-1 · 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무드보드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01E1A-0EA0-5A05-8E99-41FF8D7F677D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제주를 지우지 않고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톤을 다시 세운다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B60AE5-6518-A8A2-9C46-64E6F2E88CC5}"/>
              </a:ext>
            </a:extLst>
          </p:cNvPr>
          <p:cNvSpPr txBox="1"/>
          <p:nvPr/>
        </p:nvSpPr>
        <p:spPr>
          <a:xfrm>
            <a:off x="736600" y="2743200"/>
            <a:ext cx="10718800" cy="21417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컬러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베이잘트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리파인드 포레스트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스톤 베이지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동백 로즈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원료의 근원에서 가져온 팔레트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타이포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헤드라인은 절제된 산세리프로 신뢰감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현대성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원료 스토리는 세리프로 감성과 근거를 동시에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캠페인 톤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오랜만이에요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 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할인 언어 대신 재회를 연상시키는 카피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무드보드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종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리브랜딩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캠페인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현재방향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 제작돼 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 발표덱과 대시보드도 같은 팔레트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타이포 규칙으로 만들었다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0304D-E70F-268F-CBF5-531DFD95A302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18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6878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EB8DD2-39D2-8D93-183A-0CCF3BB9CB4D}"/>
              </a:ext>
            </a:extLst>
          </p:cNvPr>
          <p:cNvSpPr txBox="1"/>
          <p:nvPr/>
        </p:nvSpPr>
        <p:spPr>
          <a:xfrm>
            <a:off x="736600" y="584200"/>
            <a:ext cx="2270622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Part 4-2 · 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오프라인 체험 거점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1E690F-AC09-D96B-5C35-5E217D6171BF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이미 있는데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아무도 모른다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69D996-24AF-474C-478F-C9ABDB6744D8}"/>
              </a:ext>
            </a:extLst>
          </p:cNvPr>
          <p:cNvSpPr txBox="1"/>
          <p:nvPr/>
        </p:nvSpPr>
        <p:spPr>
          <a:xfrm>
            <a:off x="736600" y="2743200"/>
            <a:ext cx="10718800" cy="1451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공병공간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80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 된 한옥 개조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내부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70%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를 공병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만 개를 분쇄한 마감재로 장식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2003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 시작해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23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년째 이어온 그린사이클 캠페인의 일부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헤리티지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지속가능성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체험을 이미 증명하고 있는 공간이다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일반 소비자가 거의 모른다는 것 자체가 기회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신규 콘셉트를 만드는 대신 이 실증 사례를 재조명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확장한다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사라진 매장 노출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문제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C)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을 대체할 오프라인 축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신규 제작이 아니라 있는 것을 앞으로 꺼내는 일이라 설득력이 가장 강한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Before/After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가 된다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4D345A-985C-3F33-5558-9BD3385596A2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19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64015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35E937-1435-791C-5813-723857803E1B}"/>
              </a:ext>
            </a:extLst>
          </p:cNvPr>
          <p:cNvSpPr txBox="1"/>
          <p:nvPr/>
        </p:nvSpPr>
        <p:spPr>
          <a:xfrm>
            <a:off x="736600" y="584200"/>
            <a:ext cx="1699953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Part 4-3 · 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랜딩페이지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456B08-904A-DDD2-4125-D19421BD9E97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첫 화면에서</a:t>
            </a:r>
          </a:p>
          <a:p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무엇이 왜 바뀌었는지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" 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선언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2E3B8-D429-CBB4-0C10-724A9F5BE4A1}"/>
              </a:ext>
            </a:extLst>
          </p:cNvPr>
          <p:cNvSpPr txBox="1"/>
          <p:nvPr/>
        </p:nvSpPr>
        <p:spPr>
          <a:xfrm>
            <a:off x="736600" y="2743200"/>
            <a:ext cx="10718800" cy="16816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Before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제품나열형 구성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계승 서사 없음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FAQPage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스키마 없음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robots.txt AI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규칙 없음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After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포지셔닝 문장을 첫 화면에 선언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데이터 근거 노출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FAQ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구조화 데이터 실장으로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AEO 4/4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달성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제작 예정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무드보드 확정 후 목업 삽입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문제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E(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제로클릭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를 말이 아니라 화면으로 증명하는 자리다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69181-577F-83A4-D936-07CAA55F24EB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20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213269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C84B10-0BF3-AEB2-95B4-BE5C85C9A8CF}"/>
              </a:ext>
            </a:extLst>
          </p:cNvPr>
          <p:cNvSpPr txBox="1"/>
          <p:nvPr/>
        </p:nvSpPr>
        <p:spPr>
          <a:xfrm>
            <a:off x="736600" y="584200"/>
            <a:ext cx="1699953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Part 4-4 · 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상세페이지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63F372-C427-4A69-5028-FD16E5CD7FA8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제품에서 브랜드로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건너가는 다리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056E4C-5F57-FCE1-3127-E4BCBA4B464C}"/>
              </a:ext>
            </a:extLst>
          </p:cNvPr>
          <p:cNvSpPr txBox="1"/>
          <p:nvPr/>
        </p:nvSpPr>
        <p:spPr>
          <a:xfrm>
            <a:off x="736600" y="2743200"/>
            <a:ext cx="10718800" cy="16816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Before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성분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효능 클레임 중심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제품을 사도 브랜드로 이어지지 않는다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문제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D)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After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원료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데이터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헤리티지 근거를 두괄식 배치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제품 구매가 브랜드 서사와 연결되도록 설계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제작 예정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무드보드 확정 후 목업 삽입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F271C-C454-7C7A-E954-5CB38CC848DA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21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3320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3A6371-01A2-337F-FB82-BB1A9AEC30E6}"/>
              </a:ext>
            </a:extLst>
          </p:cNvPr>
          <p:cNvSpPr txBox="1"/>
          <p:nvPr/>
        </p:nvSpPr>
        <p:spPr>
          <a:xfrm>
            <a:off x="736600" y="584200"/>
            <a:ext cx="1008609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실행 로드맵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AA019F-08CA-51B9-7A43-E7538802D327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언제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어떤 순서로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27D34-B698-265F-7089-375883C08CDF}"/>
              </a:ext>
            </a:extLst>
          </p:cNvPr>
          <p:cNvSpPr txBox="1"/>
          <p:nvPr/>
        </p:nvSpPr>
        <p:spPr>
          <a:xfrm>
            <a:off x="736600" y="2743200"/>
            <a:ext cx="10718800" cy="1451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시점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실행 항목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대응 문제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즉시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(0~30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일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자사 채널 전체 감사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플랫폼 제휴 기획전 확대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E · C  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중기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(30~90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일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무드보드 확정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휴면고객 재활성화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랜딩페이지 제작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콘텐츠 전문가 검증형 전환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A · E  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장기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오프라인 체험 거점 확장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('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공병공간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모델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  |  C  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예산 원칙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더 쓰기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가 아니라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다르게 쓰기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". 2023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년의 실패는 돈을 안 써서가 아니라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쓴 돈이 전부 성과형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(BOFU)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으로만 갔기 때문이다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인지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(TOFU)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전용 예산을 별도로 배정한다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1B20FD-9919-2057-6E27-C5593C8F1867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22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66021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293F47-996B-2B6D-8E0B-699B1CCEB92D}"/>
              </a:ext>
            </a:extLst>
          </p:cNvPr>
          <p:cNvSpPr txBox="1"/>
          <p:nvPr/>
        </p:nvSpPr>
        <p:spPr>
          <a:xfrm>
            <a:off x="736600" y="584200"/>
            <a:ext cx="85472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측정 계획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BC8965-35F7-8428-832A-F5E91FB046ED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무엇으로 성공을 판정할 것인가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69F113-A0BB-E939-7B26-5ABE126021E2}"/>
              </a:ext>
            </a:extLst>
          </p:cNvPr>
          <p:cNvSpPr txBox="1"/>
          <p:nvPr/>
        </p:nvSpPr>
        <p:spPr>
          <a:xfrm>
            <a:off x="736600" y="2743200"/>
            <a:ext cx="10718800" cy="1451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KPI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정의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현재값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검색지수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'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이니스프리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단일 키워드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YoY −31.5%  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연상 비중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'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이니스프리 제주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단독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0.51%  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제품↔브랜드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Gap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제품군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YoY −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YoY  |  +9.6%p  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경쟁 검색 점유율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직접경쟁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사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이니스프리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미샤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+3CE)  |  51.2%  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AEO/SEO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대응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4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항목 충족률 실행 지표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1 / 4  |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05896A-54F6-DD78-6E46-3299DD5C1A69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23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4427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E32B7B-9D60-BFBF-752F-90B7680094E2}"/>
              </a:ext>
            </a:extLst>
          </p:cNvPr>
          <p:cNvSpPr txBox="1"/>
          <p:nvPr/>
        </p:nvSpPr>
        <p:spPr>
          <a:xfrm>
            <a:off x="736600" y="584200"/>
            <a:ext cx="85472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9FB89A"/>
                </a:solidFill>
                <a:latin typeface="맑은 고딕" panose="020B0503020000020004" pitchFamily="50" charset="-127"/>
              </a:rPr>
              <a:t>판정 원칙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165716-0700-293B-AAF7-27A76F35E812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목표치를 지어내지 않는다</a:t>
            </a:r>
            <a:r>
              <a:rPr lang="en-US" altLang="ko-KR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  <a:endParaRPr lang="ko-KR" altLang="en-US" sz="3000" b="1">
              <a:solidFill>
                <a:srgbClr val="E8E2D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B973C-D271-A9AE-D2B0-F76B6EBA5E42}"/>
              </a:ext>
            </a:extLst>
          </p:cNvPr>
          <p:cNvSpPr txBox="1"/>
          <p:nvPr/>
        </p:nvSpPr>
        <p:spPr>
          <a:xfrm>
            <a:off x="736600" y="2743200"/>
            <a:ext cx="10718800" cy="12214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"360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일에 브랜드 검색 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+N%" 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같은 절대 숫자를 정하려면 업계 벤치마크가 필요하다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없는 상태에서 지어내면 근거 없는 숫자가 하나 더 느는 것뿐이다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대신 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자연 추세 대비 초과분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으로 판정한다 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개입이 없었어도 일어났을 변화는 성과가 아니다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이 방식은 목표 숫자를 몰라도 성립하고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데이터가 쌓일수록 정밀해진다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예 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브랜드 검색 낙폭이 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줄었는가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가 아니라 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자연 감속보다 더 줄었는가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"</a:t>
            </a:r>
            <a:endParaRPr lang="ko-KR" altLang="en-US" sz="1300">
              <a:solidFill>
                <a:srgbClr val="E8E2D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9BE58-CE7E-9825-B213-FBDB8BCF5382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9FB89A"/>
                </a:solidFill>
                <a:latin typeface="맑은 고딕" panose="020B0503020000020004" pitchFamily="50" charset="-127"/>
              </a:rPr>
              <a:t>24</a:t>
            </a:r>
            <a:endParaRPr lang="ko-KR" altLang="en-US" sz="1000">
              <a:solidFill>
                <a:srgbClr val="9FB89A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98385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9CA442-091E-00CC-8E9A-2195E3CD957B}"/>
              </a:ext>
            </a:extLst>
          </p:cNvPr>
          <p:cNvSpPr txBox="1"/>
          <p:nvPr/>
        </p:nvSpPr>
        <p:spPr>
          <a:xfrm>
            <a:off x="736600" y="584200"/>
            <a:ext cx="800219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모니터링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73DA05-C30C-5E07-E67E-7673B7AED753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제안이 끝나도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같은 지표를 계속 본다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8AB3DF-B782-80C9-460B-56DA01384C52}"/>
              </a:ext>
            </a:extLst>
          </p:cNvPr>
          <p:cNvSpPr txBox="1"/>
          <p:nvPr/>
        </p:nvSpPr>
        <p:spPr>
          <a:xfrm>
            <a:off x="736600" y="2743200"/>
            <a:ext cx="10718800" cy="1451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화면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1 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분석 재현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 발표의 근거 데이터를 청중이 직접 조작하며 재확인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상관계수 차트에는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다른 설명 가능성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경고가 항상 함께 뜬다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화면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 — KPI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모니터링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같은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KPI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를 계속 추적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게이트를 벗어나면 자동 경보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갱신할 때마다 변화 이력이 남는다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핵심은 재사용이다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제안 전에 문제를 진단한 데이터를 버리지 않고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제안 이후 그대로 성과 측정 지표로 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ry-ruc.github.io/Brand-Growth-Strategy 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라이브로 접속 가능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71EA3-4FCF-E475-613F-4E2B947E7292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25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7117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38811F-B9A7-9F61-AFD2-6E1A9BFB6A8E}"/>
              </a:ext>
            </a:extLst>
          </p:cNvPr>
          <p:cNvSpPr txBox="1"/>
          <p:nvPr/>
        </p:nvSpPr>
        <p:spPr>
          <a:xfrm>
            <a:off x="736600" y="584200"/>
            <a:ext cx="492443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9FB89A"/>
                </a:solidFill>
                <a:latin typeface="맑은 고딕" panose="020B0503020000020004" pitchFamily="50" charset="-127"/>
              </a:rPr>
              <a:t>정리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BA870-E5E5-440B-63F7-8C020B0BED0F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회사는 제주를 뗐지만</a:t>
            </a:r>
            <a:r>
              <a:rPr lang="en-US" altLang="ko-KR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,</a:t>
            </a:r>
          </a:p>
          <a:p>
            <a:r>
              <a:rPr lang="ko-KR" altLang="en-US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소비자는 아직 제주로 브랜드를 기억한다</a:t>
            </a:r>
            <a:r>
              <a:rPr lang="en-US" altLang="ko-KR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  <a:endParaRPr lang="ko-KR" altLang="en-US" sz="3000" b="1">
              <a:solidFill>
                <a:srgbClr val="E8E2D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F90F-674F-0519-1F66-A4246575E8A9}"/>
              </a:ext>
            </a:extLst>
          </p:cNvPr>
          <p:cNvSpPr txBox="1"/>
          <p:nvPr/>
        </p:nvSpPr>
        <p:spPr>
          <a:xfrm>
            <a:off x="736600" y="2743200"/>
            <a:ext cx="10718800" cy="76136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브랜드 자산은 사라진 것이 아니라 연결되지 않고 있었다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우리가 제안하는 것은 새 이야기를 만드는 일이 아니라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이미 있는 이야기를 데이터로 다시 증명해 보여주는 일이다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증명된 헤리티지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91D93D-CDA4-50C8-B3C2-BC522BD79532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9FB89A"/>
                </a:solidFill>
                <a:latin typeface="맑은 고딕" panose="020B0503020000020004" pitchFamily="50" charset="-127"/>
              </a:rPr>
              <a:t>26</a:t>
            </a:r>
            <a:endParaRPr lang="ko-KR" altLang="en-US" sz="1000">
              <a:solidFill>
                <a:srgbClr val="9FB89A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41362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BD49B8-F66C-30EB-0186-252E6E0F6C75}"/>
              </a:ext>
            </a:extLst>
          </p:cNvPr>
          <p:cNvSpPr txBox="1"/>
          <p:nvPr/>
        </p:nvSpPr>
        <p:spPr>
          <a:xfrm>
            <a:off x="8890000" y="584200"/>
            <a:ext cx="2565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100" b="1">
                <a:solidFill>
                  <a:srgbClr val="8E4A52"/>
                </a:solidFill>
                <a:latin typeface="맑은 고딕" panose="020B0503020000020004" pitchFamily="50" charset="-127"/>
              </a:rPr>
              <a:t>APPENDIX</a:t>
            </a:r>
            <a:endParaRPr lang="ko-KR" altLang="en-US" sz="1100" b="1">
              <a:solidFill>
                <a:srgbClr val="8E4A5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DEE9A-9A2A-E98A-5144-0171340254EB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E8E2D6"/>
                </a:solidFill>
                <a:latin typeface="맑은 고딕" panose="020B0503020000020004" pitchFamily="50" charset="-127"/>
              </a:rPr>
              <a:t>질의응답용 근거 자료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2A3957-C476-224D-D8D2-CEAA8A23CAD8}"/>
              </a:ext>
            </a:extLst>
          </p:cNvPr>
          <p:cNvSpPr txBox="1"/>
          <p:nvPr/>
        </p:nvSpPr>
        <p:spPr>
          <a:xfrm>
            <a:off x="736600" y="2743200"/>
            <a:ext cx="10718800" cy="30123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본편에서는 결론만 말했습니다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E8E2D6"/>
                </a:solidFill>
                <a:latin typeface="맑은 고딕" panose="020B0503020000020004" pitchFamily="50" charset="-127"/>
              </a:rPr>
              <a:t>아래는 그 결론이 어떻게 나왔는지에 대한 자료입니다</a:t>
            </a:r>
            <a:r>
              <a:rPr lang="en-US" altLang="ko-KR" sz="1300">
                <a:solidFill>
                  <a:srgbClr val="E8E2D6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E8E2D6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FB3732-C5B3-6700-B4CC-042AEE364350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9FB89A"/>
                </a:solidFill>
                <a:latin typeface="맑은 고딕" panose="020B0503020000020004" pitchFamily="50" charset="-127"/>
              </a:rPr>
              <a:t>27</a:t>
            </a:r>
            <a:endParaRPr lang="ko-KR" altLang="en-US" sz="1000">
              <a:solidFill>
                <a:srgbClr val="9FB89A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68286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B51BE3-7EC2-FBBB-F397-BB1A2A6B0272}"/>
              </a:ext>
            </a:extLst>
          </p:cNvPr>
          <p:cNvSpPr txBox="1"/>
          <p:nvPr/>
        </p:nvSpPr>
        <p:spPr>
          <a:xfrm>
            <a:off x="736600" y="584200"/>
            <a:ext cx="121700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근거 등급 체계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B910DB-BB10-85E1-06FA-78461D7A288A}"/>
              </a:ext>
            </a:extLst>
          </p:cNvPr>
          <p:cNvSpPr txBox="1"/>
          <p:nvPr/>
        </p:nvSpPr>
        <p:spPr>
          <a:xfrm>
            <a:off x="8890000" y="584200"/>
            <a:ext cx="2565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100" b="1">
                <a:solidFill>
                  <a:srgbClr val="8E4A52"/>
                </a:solidFill>
                <a:latin typeface="맑은 고딕" panose="020B0503020000020004" pitchFamily="50" charset="-127"/>
              </a:rPr>
              <a:t>A1</a:t>
            </a:r>
            <a:endParaRPr lang="ko-KR" altLang="en-US" sz="1100" b="1">
              <a:solidFill>
                <a:srgbClr val="8E4A5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BA87A-460D-677D-0F5E-2AF7F239C88C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모든 숫자에 출처 등급을 매겼다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F7E27-E660-5965-7D50-9B61631872BD}"/>
              </a:ext>
            </a:extLst>
          </p:cNvPr>
          <p:cNvSpPr txBox="1"/>
          <p:nvPr/>
        </p:nvSpPr>
        <p:spPr>
          <a:xfrm>
            <a:off x="736600" y="2743200"/>
            <a:ext cx="10718800" cy="1451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등급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뜻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 프로젝트에서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  |  1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차 자료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법정 공시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등록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원본 보유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감사보고서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(DART) 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공정위 정보공개서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B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팀이 직접 수집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방법론 명시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네이버 데이터랩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공식 사이트 직접 점검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C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언론 보도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1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차 교차검증 안 됨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업계 참고지표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출처 명시 후 신중 인용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D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주장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추정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검증 불가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전혀 사용하지 않음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발표에 나온 모든 수치는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또는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B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등급입니다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C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등급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(zero-click 69%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등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은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업계 참고 지표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라고 명시했습니다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B715F4-D9A2-BE33-CEB9-DD8CDD7A32D2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28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9982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7DB610-28F9-6E7E-16D4-54747623F1BB}"/>
              </a:ext>
            </a:extLst>
          </p:cNvPr>
          <p:cNvSpPr txBox="1"/>
          <p:nvPr/>
        </p:nvSpPr>
        <p:spPr>
          <a:xfrm>
            <a:off x="736600" y="584200"/>
            <a:ext cx="1593706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한계 </a:t>
            </a:r>
            <a:r>
              <a:rPr lang="en-US" altLang="ko-KR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상관 ≠ 인과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1FD11B-B80A-75AA-7956-4A91634FF287}"/>
              </a:ext>
            </a:extLst>
          </p:cNvPr>
          <p:cNvSpPr txBox="1"/>
          <p:nvPr/>
        </p:nvSpPr>
        <p:spPr>
          <a:xfrm>
            <a:off x="8890000" y="584200"/>
            <a:ext cx="2565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100" b="1">
                <a:solidFill>
                  <a:srgbClr val="8E4A52"/>
                </a:solidFill>
                <a:latin typeface="맑은 고딕" panose="020B0503020000020004" pitchFamily="50" charset="-127"/>
              </a:rPr>
              <a:t>A2</a:t>
            </a:r>
            <a:endParaRPr lang="ko-KR" altLang="en-US" sz="1100" b="1">
              <a:solidFill>
                <a:srgbClr val="8E4A5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74F641-CB5F-AFFD-56CF-F5E092CE5950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r = 0.98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이어도</a:t>
            </a:r>
          </a:p>
          <a:p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매장을 늘리면 된다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는 아니다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4B824F-2C8D-24C1-1F13-FC6E8FE1BD38}"/>
              </a:ext>
            </a:extLst>
          </p:cNvPr>
          <p:cNvSpPr txBox="1"/>
          <p:nvPr/>
        </p:nvSpPr>
        <p:spPr>
          <a:xfrm>
            <a:off x="736600" y="2743200"/>
            <a:ext cx="10718800" cy="19116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왜 단정할 수 없나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표본이 작다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연간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n=4~5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역인과 가능성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수요가 줄어 채산성이 안 맞는 매장부터 닫았을 수 있다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교란변수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K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뷰티 붐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중국 수요 소멸이 겹친다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그래서 이렇게 쓴다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매장을 늘리면 검색이 는다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가 아니라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매장이 하던 노출 기능을 무엇으로 대체할 것인가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라는 질문으로만 사용한다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대시보드의 상관계수 차트에는 이 경고 캡션이 항상 함께 노출되도록 만들었습니다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원본을 안 읽은 사람이 화면만 보고 오해하지 않도록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D187B-A536-A2C3-7C25-AA32F6E4A498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29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0221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7103DC-0FA0-9C8E-7B39-B1E541DBDDA8}"/>
              </a:ext>
            </a:extLst>
          </p:cNvPr>
          <p:cNvSpPr txBox="1"/>
          <p:nvPr/>
        </p:nvSpPr>
        <p:spPr>
          <a:xfrm>
            <a:off x="736600" y="584200"/>
            <a:ext cx="121700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정의 확정 과정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0FEFE9-2904-11A0-11A3-4CDB2F98F92B}"/>
              </a:ext>
            </a:extLst>
          </p:cNvPr>
          <p:cNvSpPr txBox="1"/>
          <p:nvPr/>
        </p:nvSpPr>
        <p:spPr>
          <a:xfrm>
            <a:off x="8890000" y="584200"/>
            <a:ext cx="2565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100" b="1">
                <a:solidFill>
                  <a:srgbClr val="8E4A52"/>
                </a:solidFill>
                <a:latin typeface="맑은 고딕" panose="020B0503020000020004" pitchFamily="50" charset="-127"/>
              </a:rPr>
              <a:t>A3</a:t>
            </a:r>
            <a:endParaRPr lang="ko-KR" altLang="en-US" sz="1100" b="1">
              <a:solidFill>
                <a:srgbClr val="8E4A5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F20178-5383-9E62-0183-E3D80704B270}"/>
              </a:ext>
            </a:extLst>
          </p:cNvPr>
          <p:cNvSpPr txBox="1"/>
          <p:nvPr/>
        </p:nvSpPr>
        <p:spPr>
          <a:xfrm>
            <a:off x="736600" y="1092200"/>
            <a:ext cx="107188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같은 지표가 상승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하락</a:t>
            </a:r>
            <a:r>
              <a:rPr lang="en-US" altLang="ko-KR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·</a:t>
            </a:r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보합으로</a:t>
            </a:r>
          </a:p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다 다르게 나왔다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7C4CF4-4D32-285D-8086-5719B16743F2}"/>
              </a:ext>
            </a:extLst>
          </p:cNvPr>
          <p:cNvSpPr txBox="1"/>
          <p:nvPr/>
        </p:nvSpPr>
        <p:spPr>
          <a:xfrm>
            <a:off x="736600" y="2743200"/>
            <a:ext cx="10718800" cy="16816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연상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'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정의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2025 → 2026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판정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화산송이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1.96% → 1.45%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하락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+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그린티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2.29% → 3.72%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상승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단독 ← 확정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0.51% → 0.51%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보합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"2026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 제주 연상이 처음 꺾였다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는 보고는 실제로 화산송이 하락이었습니다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키워드를 분리 조회해 원인을 특정하고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제주 단독을 공식 정의로 확정했습니다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같은 착시를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2025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"3~8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월 스파이크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에서 한 번 더 잡았습니다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그것도 화산송이의 여름 계절성이었습니다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0B01CF-A824-2B82-6C03-CF027F63EEED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30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5124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054706-81CC-C858-0D8B-D1BD0669EF29}"/>
              </a:ext>
            </a:extLst>
          </p:cNvPr>
          <p:cNvSpPr txBox="1"/>
          <p:nvPr/>
        </p:nvSpPr>
        <p:spPr>
          <a:xfrm>
            <a:off x="736600" y="584200"/>
            <a:ext cx="1008609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대조군 교체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EA65F5-F5EA-7FE8-F4A1-6A915040378E}"/>
              </a:ext>
            </a:extLst>
          </p:cNvPr>
          <p:cNvSpPr txBox="1"/>
          <p:nvPr/>
        </p:nvSpPr>
        <p:spPr>
          <a:xfrm>
            <a:off x="8890000" y="584200"/>
            <a:ext cx="2565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100" b="1">
                <a:solidFill>
                  <a:srgbClr val="8E4A52"/>
                </a:solidFill>
                <a:latin typeface="맑은 고딕" panose="020B0503020000020004" pitchFamily="50" charset="-127"/>
              </a:rPr>
              <a:t>A4</a:t>
            </a:r>
            <a:endParaRPr lang="ko-KR" altLang="en-US" sz="1100" b="1">
              <a:solidFill>
                <a:srgbClr val="8E4A5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161FFF-21A2-9B95-0871-F4DF6097D0CB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토니모리를 왜 안 쓰는가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92CA1-A6C0-B0F6-C230-8EBBED72A0E6}"/>
              </a:ext>
            </a:extLst>
          </p:cNvPr>
          <p:cNvSpPr txBox="1"/>
          <p:nvPr/>
        </p:nvSpPr>
        <p:spPr>
          <a:xfrm>
            <a:off x="736600" y="2743200"/>
            <a:ext cx="10718800" cy="237180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2026 1~7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YoY  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이니스프리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−31.5%  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미샤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−27.1%  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토니모리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−53.5%  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토니모리는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2026-02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부터 월별 −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50~67%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로 균일하게 빠졌다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일시적 사건이 아니라 레벨 시프트다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왜 문제인가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토니모리는 평평한데 이니스프리만 무너졌다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는 논증이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2026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구간에서 성립하지 않는다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오히려 이니스프리는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3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사 중 중간이다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또 점유율 분모에 넣으면 우리가 가만히 있어도 점유율이 오르는 착시가 생긴다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그래서 검색량 대조군을 미샤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·3CE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로 교체했다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BD5545-C213-095F-1CA9-38B926D817F1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31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3014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2166CB-8E44-86F1-B90E-95D64DDA0079}"/>
              </a:ext>
            </a:extLst>
          </p:cNvPr>
          <p:cNvSpPr txBox="1"/>
          <p:nvPr/>
        </p:nvSpPr>
        <p:spPr>
          <a:xfrm>
            <a:off x="736600" y="584200"/>
            <a:ext cx="85472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수치 통일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5A8182-995C-4F83-9169-06CF3B85D331}"/>
              </a:ext>
            </a:extLst>
          </p:cNvPr>
          <p:cNvSpPr txBox="1"/>
          <p:nvPr/>
        </p:nvSpPr>
        <p:spPr>
          <a:xfrm>
            <a:off x="8890000" y="584200"/>
            <a:ext cx="2565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100" b="1">
                <a:solidFill>
                  <a:srgbClr val="8E4A52"/>
                </a:solidFill>
                <a:latin typeface="맑은 고딕" panose="020B0503020000020004" pitchFamily="50" charset="-127"/>
              </a:rPr>
              <a:t>A5</a:t>
            </a:r>
            <a:endParaRPr lang="ko-KR" altLang="en-US" sz="1100" b="1">
              <a:solidFill>
                <a:srgbClr val="8E4A5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FBF88-EDDB-FE80-23C4-14DC46691823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같은 데이터도 집계 방식에 따라 갈린다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7AC43A-2993-BF93-7E88-2D9C2453AAC2}"/>
              </a:ext>
            </a:extLst>
          </p:cNvPr>
          <p:cNvSpPr txBox="1"/>
          <p:nvPr/>
        </p:nvSpPr>
        <p:spPr>
          <a:xfrm>
            <a:off x="736600" y="2743200"/>
            <a:ext cx="10718800" cy="1451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계열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산출 방법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2024 YoY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채택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일간 정밀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1,826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일 전량의 일수 가중 평균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−38.5%  |  ✅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표준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월간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API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월간 조회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재정규화 척도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  |  −38.4%  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병기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라이브 파이프라인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단순평균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월평균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개를 다시 평균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월 길이 미가중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  |  −38.6%  |  ❌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폐기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문서마다 −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38.4 / −38.5 / −38.6%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가 섞여 있던 원인을 집계 방식 차이로 특정하고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표준 계열을 정해 전 문서를 통일했습니다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수치가 충돌하면 검색지수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_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표준수치표가 기준입니다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DFCDB4-F518-0108-EE29-9388445195CC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32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907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85AB02-D3FF-86B0-3803-042CACA113CE}"/>
              </a:ext>
            </a:extLst>
          </p:cNvPr>
          <p:cNvSpPr txBox="1"/>
          <p:nvPr/>
        </p:nvSpPr>
        <p:spPr>
          <a:xfrm>
            <a:off x="736600" y="584200"/>
            <a:ext cx="1008609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재현 가능성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2A3A7-3A1B-3509-2020-2492E285AF21}"/>
              </a:ext>
            </a:extLst>
          </p:cNvPr>
          <p:cNvSpPr txBox="1"/>
          <p:nvPr/>
        </p:nvSpPr>
        <p:spPr>
          <a:xfrm>
            <a:off x="8890000" y="584200"/>
            <a:ext cx="2565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100" b="1">
                <a:solidFill>
                  <a:srgbClr val="8E4A52"/>
                </a:solidFill>
                <a:latin typeface="맑은 고딕" panose="020B0503020000020004" pitchFamily="50" charset="-127"/>
              </a:rPr>
              <a:t>A6</a:t>
            </a:r>
            <a:endParaRPr lang="ko-KR" altLang="en-US" sz="1100" b="1">
              <a:solidFill>
                <a:srgbClr val="8E4A5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A7F9B6-B6D0-4C4D-F494-5CB8A124CE96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직접 확인할 수 있습니다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33F918-B3B3-2512-0FBA-20D4334F7D26}"/>
              </a:ext>
            </a:extLst>
          </p:cNvPr>
          <p:cNvSpPr txBox="1"/>
          <p:nvPr/>
        </p:nvSpPr>
        <p:spPr>
          <a:xfrm>
            <a:off x="736600" y="2743200"/>
            <a:ext cx="10718800" cy="19116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데이터 재조회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NAVER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데이터랩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API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호출 스크립트가 저장소에 있습니다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python build_data.py --live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실행하면 최신 월까지 재조회하고 대시보드에 반영됩니다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AEO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자동 점검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python check_aeo.py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공식 사이트의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robots.txt · llms.txt · JSON-LD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를 실제로 조회해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4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항목을 판정합니다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원자료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(CSV·API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원응답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와 집계 스크립트를 모두 저장소에 두었습니다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같은 숫자가 다시 나오는지 확인할 수 있습니다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DFF1FD-5150-0970-44F3-D07C378D5417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33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4953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DEB7CF-E10E-FB16-34ED-9760723DF402}"/>
              </a:ext>
            </a:extLst>
          </p:cNvPr>
          <p:cNvSpPr txBox="1"/>
          <p:nvPr/>
        </p:nvSpPr>
        <p:spPr>
          <a:xfrm>
            <a:off x="736600" y="584200"/>
            <a:ext cx="646331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스코프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953AF-FF5A-A39D-1AEA-10578C0E1113}"/>
              </a:ext>
            </a:extLst>
          </p:cNvPr>
          <p:cNvSpPr txBox="1"/>
          <p:nvPr/>
        </p:nvSpPr>
        <p:spPr>
          <a:xfrm>
            <a:off x="8890000" y="584200"/>
            <a:ext cx="2565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100" b="1">
                <a:solidFill>
                  <a:srgbClr val="8E4A52"/>
                </a:solidFill>
                <a:latin typeface="맑은 고딕" panose="020B0503020000020004" pitchFamily="50" charset="-127"/>
              </a:rPr>
              <a:t>A7</a:t>
            </a:r>
            <a:endParaRPr lang="ko-KR" altLang="en-US" sz="1100" b="1">
              <a:solidFill>
                <a:srgbClr val="8E4A5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987CBE-654A-58AA-848B-626CB563A671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매출을 왜 안 다루는가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0EB62-642E-47D1-FFE7-B422D1B80543}"/>
              </a:ext>
            </a:extLst>
          </p:cNvPr>
          <p:cNvSpPr txBox="1"/>
          <p:nvPr/>
        </p:nvSpPr>
        <p:spPr>
          <a:xfrm>
            <a:off x="736600" y="2743200"/>
            <a:ext cx="10718800" cy="214174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다루는 것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인지도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검색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연상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접점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콘텐츠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경쟁 지위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소비자가 브랜드를 아는가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제외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재무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예산 회계 구조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가맹 수익성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판매 랭킹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해외 공급 매출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· 10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년 재무 실적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얼마나 팔렸는가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판단 기준은 하나입니다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이것이 소비자의 인지를 재는가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판매 성과를 재는가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제외한 항목도 인지도와 맞닿는 지점은 문제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A~E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안에 반영했습니다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예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광고비 재배치 → 문제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B).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마케팅이 통제할 수 없는 레버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매장 수 확대 등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를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KPI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로 삼지 않기 위한 구분입니다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D48D5-9F3C-BC00-A535-8063CFA6E8F6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34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35982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74A153-EFF3-4339-1160-7EA995E8F03B}"/>
              </a:ext>
            </a:extLst>
          </p:cNvPr>
          <p:cNvSpPr txBox="1"/>
          <p:nvPr/>
        </p:nvSpPr>
        <p:spPr>
          <a:xfrm>
            <a:off x="736600" y="584200"/>
            <a:ext cx="1217000" cy="276999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ko-KR" altLang="en-US" sz="1200" b="1">
                <a:solidFill>
                  <a:srgbClr val="3B5D48"/>
                </a:solidFill>
                <a:latin typeface="맑은 고딕" panose="020B0503020000020004" pitchFamily="50" charset="-127"/>
              </a:rPr>
              <a:t>이 분석의 약점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13D138-2514-6BCE-F55D-78A4B16EC5F4}"/>
              </a:ext>
            </a:extLst>
          </p:cNvPr>
          <p:cNvSpPr txBox="1"/>
          <p:nvPr/>
        </p:nvSpPr>
        <p:spPr>
          <a:xfrm>
            <a:off x="8890000" y="584200"/>
            <a:ext cx="25654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100" b="1">
                <a:solidFill>
                  <a:srgbClr val="8E4A52"/>
                </a:solidFill>
                <a:latin typeface="맑은 고딕" panose="020B0503020000020004" pitchFamily="50" charset="-127"/>
              </a:rPr>
              <a:t>A8</a:t>
            </a:r>
            <a:endParaRPr lang="ko-KR" altLang="en-US" sz="1100" b="1">
              <a:solidFill>
                <a:srgbClr val="8E4A52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4F96BC-E79E-AA44-713A-47A887235DDF}"/>
              </a:ext>
            </a:extLst>
          </p:cNvPr>
          <p:cNvSpPr txBox="1"/>
          <p:nvPr/>
        </p:nvSpPr>
        <p:spPr>
          <a:xfrm>
            <a:off x="736600" y="1092200"/>
            <a:ext cx="107188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ko-KR" altLang="en-US" sz="3000" b="1">
                <a:solidFill>
                  <a:srgbClr val="22241F"/>
                </a:solidFill>
                <a:latin typeface="맑은 고딕" panose="020B0503020000020004" pitchFamily="50" charset="-127"/>
              </a:rPr>
              <a:t>먼저 밝히는 한계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373EF8-99E5-9D7F-F62C-C92E8C8E829F}"/>
              </a:ext>
            </a:extLst>
          </p:cNvPr>
          <p:cNvSpPr txBox="1"/>
          <p:nvPr/>
        </p:nvSpPr>
        <p:spPr>
          <a:xfrm>
            <a:off x="736600" y="2743200"/>
            <a:ext cx="10718800" cy="145155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표본이 작다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상관계수는 연간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n=4~5. 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상관이 관찰된다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까지만 쓰고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입증됐다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"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고 쓰지 않는다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인과가 아니다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검색 감소가 리브랜딩 때문인지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브랜드 쇠퇴의 결과인지 이 데이터로는 구분할 수 없다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관심이지 태도가 아니다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검색량은 얼마나 찾는지 알려주지만 좋아하는지는 알려주지 않는다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AEO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는 미측정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취약점을 점검했을 뿐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실제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AI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인용률은 아직 재지 않았다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해외는 스코프 밖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 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해외 반응은 매출 지표뿐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—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인지도를 직접 잰 자료가 없다  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|</a:t>
            </a:r>
          </a:p>
          <a:p>
            <a:pPr>
              <a:lnSpc>
                <a:spcPct val="115000"/>
              </a:lnSpc>
            </a:pP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한계를 먼저 밝히는 것이 이 프로젝트의 원칙입니다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 D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등급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검증 불가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300">
                <a:solidFill>
                  <a:srgbClr val="22241F"/>
                </a:solidFill>
                <a:latin typeface="맑은 고딕" panose="020B0503020000020004" pitchFamily="50" charset="-127"/>
              </a:rPr>
              <a:t>근거는 한 건도 사용하지 않았습니다</a:t>
            </a:r>
            <a:r>
              <a:rPr lang="en-US" altLang="ko-KR" sz="1300">
                <a:solidFill>
                  <a:srgbClr val="22241F"/>
                </a:solidFill>
                <a:latin typeface="맑은 고딕" panose="020B0503020000020004" pitchFamily="50" charset="-127"/>
              </a:rPr>
              <a:t>.</a:t>
            </a:r>
            <a:endParaRPr lang="ko-KR" altLang="en-US" sz="1300">
              <a:solidFill>
                <a:srgbClr val="22241F"/>
              </a:solidFill>
              <a:latin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9B0CBF-646C-34C0-B25F-BB9F8C480628}"/>
              </a:ext>
            </a:extLst>
          </p:cNvPr>
          <p:cNvSpPr txBox="1"/>
          <p:nvPr/>
        </p:nvSpPr>
        <p:spPr>
          <a:xfrm>
            <a:off x="10922000" y="6350000"/>
            <a:ext cx="762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ko-KR" sz="1000">
                <a:solidFill>
                  <a:srgbClr val="3B5D48"/>
                </a:solidFill>
                <a:latin typeface="맑은 고딕" panose="020B0503020000020004" pitchFamily="50" charset="-127"/>
              </a:rPr>
              <a:t>35</a:t>
            </a:r>
            <a:endParaRPr lang="ko-KR" altLang="en-US" sz="1000">
              <a:solidFill>
                <a:srgbClr val="3B5D48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94676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2783</Words>
  <Application>Microsoft Office PowerPoint</Application>
  <PresentationFormat>사용자 지정</PresentationFormat>
  <Paragraphs>372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EZ</dc:creator>
  <cp:lastModifiedBy>EZ</cp:lastModifiedBy>
  <cp:revision>1</cp:revision>
  <dcterms:created xsi:type="dcterms:W3CDTF">2026-08-20T00:41:34Z</dcterms:created>
  <dcterms:modified xsi:type="dcterms:W3CDTF">2026-08-20T00:41:34Z</dcterms:modified>
</cp:coreProperties>
</file>