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제주 연상 비중</c:v>
                </c:pt>
              </c:strCache>
            </c:strRef>
          </c:tx>
          <c:spPr>
            <a:solidFill>
              <a:srgbClr val="00A878"/>
            </a:solidFill>
            <a:ln w="38100" cap="flat">
              <a:solidFill>
                <a:srgbClr val="00A878"/>
              </a:solidFill>
              <a:prstDash val="solid"/>
              <a:round/>
            </a:ln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16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A878"/>
              </a:solidFill>
              <a:ln w="9525" cap="flat">
                <a:solidFill>
                  <a:srgbClr val="00A8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0.42</c:v>
                </c:pt>
                <c:pt idx="2">
                  <c:v>0.5</c:v>
                </c:pt>
                <c:pt idx="3">
                  <c:v>0.53</c:v>
                </c:pt>
                <c:pt idx="4">
                  <c:v>0.52</c:v>
                </c:pt>
              </c:numCache>
            </c:numRef>
          </c:val>
          <c:smooth val="0"/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5B616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099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12700" cap="flat">
              <a:solidFill>
                <a:srgbClr val="E3E5E9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0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미·일 공급 매출</c:v>
                </c:pt>
              </c:strCache>
            </c:strRef>
          </c:tx>
          <c:spPr>
            <a:solidFill>
              <a:srgbClr val="8A90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1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0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244.5</c:v>
                </c:pt>
                <c:pt idx="2">
                  <c:v>145.2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1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099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제품 검색 (레티놀·앰플)</c:v>
                </c:pt>
              </c:strCache>
            </c:strRef>
          </c:tx>
          <c:spPr>
            <a:solidFill>
              <a:srgbClr val="00A878"/>
            </a:solidFill>
            <a:ln w="43180" cap="flat">
              <a:solidFill>
                <a:srgbClr val="00A8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A878"/>
              </a:solidFill>
              <a:ln w="9525" cap="flat">
                <a:solidFill>
                  <a:srgbClr val="00A8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45.5</c:v>
                </c:pt>
                <c:pt idx="1">
                  <c:v>100</c:v>
                </c:pt>
                <c:pt idx="2">
                  <c:v>218</c:v>
                </c:pt>
                <c:pt idx="3">
                  <c:v>199.5</c:v>
                </c:pt>
                <c:pt idx="4">
                  <c:v>134.5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브랜드 검색 (이니스프리)</c:v>
                </c:pt>
              </c:strCache>
            </c:strRef>
          </c:tx>
          <c:spPr>
            <a:solidFill>
              <a:srgbClr val="E4572E"/>
            </a:solidFill>
            <a:ln w="4318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123.2</c:v>
                </c:pt>
                <c:pt idx="1">
                  <c:v>100</c:v>
                </c:pt>
                <c:pt idx="2">
                  <c:v>76.1</c:v>
                </c:pt>
                <c:pt idx="3">
                  <c:v>46.8</c:v>
                </c:pt>
                <c:pt idx="4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A3AE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3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BA3AE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solidFill>
      <a:srgbClr val="1013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2023→2024 변화율</c:v>
                </c:pt>
              </c:strCache>
            </c:strRef>
          </c:tx>
          <c:spPr>
            <a:solidFill>
              <a:srgbClr val="8A909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1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0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0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매출</c:v>
                  </c:pt>
                  <c:pt idx="1">
                    <c:v>광고선전비</c:v>
                  </c:pt>
                  <c:pt idx="2">
                    <c:v>브랜드 검색</c:v>
                  </c:pt>
                  <c:pt idx="3">
                    <c:v>그린티 검색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-18</c:v>
                </c:pt>
                <c:pt idx="1">
                  <c:v>-20.6</c:v>
                </c:pt>
                <c:pt idx="2">
                  <c:v>-38.5</c:v>
                </c:pt>
                <c:pt idx="3">
                  <c:v>-48.1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5B61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131A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브랜드 검색</c:v>
                </c:pt>
              </c:strCache>
            </c:strRef>
          </c:tx>
          <c:spPr>
            <a:solidFill>
              <a:srgbClr val="8A9099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8A9099"/>
              </a:solidFill>
              <a:ln w="9525" cap="flat">
                <a:solidFill>
                  <a:srgbClr val="8A9099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261.3</c:v>
                </c:pt>
                <c:pt idx="1">
                  <c:v>243.6</c:v>
                </c:pt>
                <c:pt idx="2">
                  <c:v>344.9</c:v>
                </c:pt>
                <c:pt idx="3">
                  <c:v>273.9</c:v>
                </c:pt>
                <c:pt idx="4">
                  <c:v>247.6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8.503</c:v>
                </c:pt>
                <c:pt idx="1">
                  <c:v>6.903</c:v>
                </c:pt>
                <c:pt idx="2">
                  <c:v>5.251</c:v>
                </c:pt>
                <c:pt idx="3">
                  <c:v>3.228</c:v>
                </c:pt>
                <c:pt idx="4">
                  <c:v>2.302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013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131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브랜드 검색</c:v>
                </c:pt>
              </c:strCache>
            </c:strRef>
          </c:tx>
          <c:spPr>
            <a:solidFill>
              <a:srgbClr val="00A878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00A878"/>
              </a:solidFill>
              <a:ln w="9525" cap="flat">
                <a:solidFill>
                  <a:srgbClr val="00A878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400</c:v>
                </c:pt>
                <c:pt idx="1">
                  <c:v>324</c:v>
                </c:pt>
                <c:pt idx="2">
                  <c:v>234</c:v>
                </c:pt>
                <c:pt idx="3">
                  <c:v>190</c:v>
                </c:pt>
                <c:pt idx="4">
                  <c:v>147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8.503</c:v>
                </c:pt>
                <c:pt idx="1">
                  <c:v>6.903</c:v>
                </c:pt>
                <c:pt idx="2">
                  <c:v>5.251</c:v>
                </c:pt>
                <c:pt idx="3">
                  <c:v>3.228</c:v>
                </c:pt>
                <c:pt idx="4">
                  <c:v>2.302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23283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013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13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제목만 읽고 넘긴다. 여기서 시간 쓰지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결론을 먼저 던진다. 숫자 3개만 짚고 '자세한 건 뒤에서'라고 말한 뒤 바로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AGM 프레임워크. 이 두 유형 구분이 발표 전체의 뼈대다. ②는 시장 규모를 다시 재야 한다는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사실관계. '타깃까지 바뀌었다'가 핵심 — 정의상 ②라는 판정이 여기서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반전 지점. 회사는 제주를 뗐는데 소비자는 안 뗐다. 오른쪽 인용문 중 하나만 소리내어 읽으면 효과가 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방향은 맞았다는 것을 인정하고 가야 뒤의 비판이 설득력을 얻는다. 미국 +86.1%.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이 발표의 심장. 가장 오래 머문다. 갈라지는 지점을 손으로 가리킬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 101억은 새 돈이 아니었다. 총액 +0.1%. '조직이 베팅하지 않았다'로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1년 만에 거뒀고 그 해가 가장 나빴다. 그린티는 죽은 자산이 아니었다는 점을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TAM·SAM·SOM을 실제로는 재지 않았다. 우리도 못 쟀다는 한계를 같이 밝힌다.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5조건 중 차별성·실행 가능에서 무너졌다. 빨간 두 줄만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3원칙은 모두 통과해야 한다. '다름이 아니라 낯섦'이 이 장의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반론 선제 차단. 반드시 '아리따움 대비'로 한정해서 말할 것 — 에뛰드는 더 심하다.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반론 선제 차단 2. 이익 감소의 99.4%가 매출총이익. 판관비는 동결이었다.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광고비는 무상관, 매장 수는 r=0.98. 매장은 유통이 아니라 매체였다. n이 작다는 한계는 마지막 장에서.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가설로만 제시할 것. 시점 일치이지 인과가 아니라고 반드시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종합. 결정은 ②, 실행은 ①. 한 문장으로 정리하고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시사점 4가지. 번호만 읽고 각 한 줄씩. 여기서 늘어지지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제안. 목소리를 올리는 지점. '매장 400개가 하던 일을 이제 제품 하나와 그 고객이 해야 한다'로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밝히면 근거가 되고, 지적당하면 허점이 된다. n=4와 역인과는 반드시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371600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CAPSTONE · BRAND DIAGNOSIS ·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1965960"/>
            <a:ext cx="107624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6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13232" y="2697480"/>
            <a:ext cx="10762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바꿨고, 무엇을 놓쳤나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13232" y="376732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리브랜딩을 AGM 리브랜딩 유형 프레임워크로 진단한다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5742432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감사보고서 6건(DART)  ·  공정거래위원회 정보공개서  ·  네이버 데이터랩 1,826일  ·  언론보도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93268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9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포지셔닝을 바꾸는 결정을 내려놓고,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48132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9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로고를 바꾸는 수준의 자원만 썼다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60" kern="0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+41.6%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광고선전비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7년 중 늘어난 유일한 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5696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60" kern="0" dirty="0">
                <a:solidFill>
                  <a:srgbClr val="9B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25696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해 판관비 총액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25696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예산이 아니라 재배치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8160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6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−20.6%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38160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이듬해 광고선전비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38160" y="3968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만에 손을 뗐다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5029200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실패의 본질은 “무엇을 바꿨나”가 아니라, “바꾼 크기에 맞는 자원을 쓰지 않은 것”이다.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리브랜딩에는 두 가지 유형이 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AGM 강의노트 — 전략 프레임워크(TAM·SAM·SOM) · STP · 포지셔닝과 가치제안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139696"/>
            <a:ext cx="5138928" cy="3639312"/>
          </a:xfrm>
          <a:prstGeom prst="roundRect">
            <a:avLst>
              <a:gd name="adj" fmla="val 20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395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표면적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743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 · 색상 · 톤만 변경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TAM·SAM·SOM 재계산 불필요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" y="3511296"/>
            <a:ext cx="4517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시장·타깃·포지셔닝이 그대로이기 때문이다.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기존 3C·SWOT 유지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브랜드 가이드라인만 정비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“기억”의 리프레시가 목표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36792" y="2139696"/>
            <a:ext cx="5138928" cy="3639312"/>
          </a:xfrm>
          <a:prstGeom prst="roundRect">
            <a:avLst>
              <a:gd name="adj" fmla="val 2010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2395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포지셔닝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47688" y="2743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 · 위치 · 메시지 변경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47688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TAM·SAM·SOM 재계산 필수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47688" y="3511296"/>
            <a:ext cx="45171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경쟁 구도에 진입하기 때문이다.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기존: 프리미엄 백화점 타깃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변경: 온라인 MZ 타깃 → SAM 확대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새 기회 = 새 시장 규모 계산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1단계 — 사실관계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이니스프리는 실제로 무엇을 바꿨나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2월 · 대행사 BBDO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121408"/>
          <a:ext cx="1076248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71416"/>
                <a:gridCol w="4462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제주도 — 실재하는 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NEW ISLE — 가상의 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슬로건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자연주의 · 제주 원료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Nature-Powered Skincare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Discovered from the Island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소문자 innisfree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대문자 INNISFREE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타깃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자연주의 선호 국내 2030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1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+ Gen Z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" y="5029200"/>
            <a:ext cx="10762488" cy="841248"/>
          </a:xfrm>
          <a:prstGeom prst="roundRect">
            <a:avLst>
              <a:gd name="adj" fmla="val 8696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5029200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타깃까지 바뀌었다 → 정의상 ② 포지셔닝 리브랜딩이다. TAM·SAM·SOM 재계산이 반드시 필요했다.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근거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회사는 제주를 뗐는데, 소비자는 안 뗐다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 대비 제주 연상 비중('이니스프리 제주' 단독 — 2026-08-19 확정) — 브랜드 전체보다 오래 버텼다(2024년 0.53% 정점, 2025년 0.52% 보합)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103120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99248" y="210312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당시 소비자·업계 반응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99248" y="248716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“제주 비자림의 짙은 녹음이 사라졌다”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99248" y="2852928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디자인나침반 2023-02-22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699248" y="321868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“헤리티지가 안 보인다”, “IT회사 로고 같다”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99248" y="3584448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디자인나침반 2023-02-22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99248" y="395020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“너무 못생겨서 충격”, “모더나 스티커 같음”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99248" y="4315968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매드타임스 2023-06-27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99248" y="4681728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“특별한 포인트가 없는 가상 공간”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99248" y="5047488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비즈워치 2024-04-01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699248" y="5449824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브랜드평판지수 3위 이탈 (2023-02, 2021년 이후 최초)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근거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노린 시장에서는 실제로 반응이 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미·일 계열사 공급 매출 — 본사가 해외로 얼마나 밀었는가의 지표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148840"/>
          <a:ext cx="6309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13232" y="5230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억원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06640" y="22860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+86.1%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406640" y="29626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미국 공급 증가율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6640" y="3218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해 국내 매출은 −8.7%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06640" y="37673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146배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7406640" y="4443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“리뉴얼·로고” 검색 폭증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47000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직후 — 6개월 만에 소멸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06640" y="5285232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12700">
            <a:solidFill>
              <a:srgbClr val="EAF7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6096" y="52852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6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맞았다. 문제는 지속력이다.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발견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돈은 브랜드가 아니라 제품으로 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검색지수 2022년 = 100 · 광고선전비를 41.6% 늘린 바로 그 해에 두 선이 갈라진다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157984"/>
          <a:ext cx="7772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0" y="237744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10" kern="0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+118.5%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0" y="2962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제품 검색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3529584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1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−23.9%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686800" y="41148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해 브랜드 검색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47091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브랜드를 새로 세운다며 쓴 돈이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검색만 두 배로 올렸다.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 진단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예산은 ① 표면적 수준으로만 집행됐다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→ 2023 판매비와관리비 항목별 증감 · 총액은 1,600.3억 → 1,601.7억 (+0.1%)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1243584" cy="822960"/>
          </a:xfrm>
          <a:prstGeom prst="rect">
            <a:avLst/>
          </a:prstGeom>
          <a:solidFill>
            <a:srgbClr val="D9DC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5295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총액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22576" y="2765769"/>
            <a:ext cx="1243584" cy="1074711"/>
          </a:xfrm>
          <a:prstGeom prst="rect">
            <a:avLst/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2454873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+101.4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39696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2193438"/>
            <a:ext cx="1243584" cy="572331"/>
          </a:xfrm>
          <a:prstGeom prst="rect">
            <a:avLst/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88254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+54.0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49040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유통·급여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41264" y="2193438"/>
            <a:ext cx="1243584" cy="497080"/>
          </a:xfrm>
          <a:prstGeom prst="rect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188254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3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−46.9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58384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감소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50608" y="2690518"/>
            <a:ext cx="1243584" cy="463164"/>
          </a:xfrm>
          <a:prstGeom prst="rect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237962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3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−43.7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67728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운반비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59952" y="3153682"/>
            <a:ext cx="1243584" cy="671959"/>
          </a:xfrm>
          <a:prstGeom prst="rect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7072" y="284278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3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−63.4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7072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지급수수료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69296" y="3840480"/>
            <a:ext cx="1243584" cy="822960"/>
          </a:xfrm>
          <a:prstGeom prst="rect">
            <a:avLst/>
          </a:prstGeom>
          <a:solidFill>
            <a:srgbClr val="D9DC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86416" y="35295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1,601.7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186416" y="4754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총액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4663440"/>
            <a:ext cx="10762488" cy="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5413248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광고에 101억을 넣으면서 지급수수료 63억, 운반비 44억을 깎았다 — 새 예산이 아니라 재배치였다.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" y="5724144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브랜드를 새로 세우는 일에 총액조차 늘리지 못했다. 조직이 이 리브랜딩에 베팅하지 않았다는 신호다.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 진단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1년 만에 거뒀다 — 그 해가 가장 나빴다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→ 2024 변화. 광고비를 끊은 해에 브랜드 관심도가 5년 중 가장 크게 빠졌다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194560"/>
          <a:ext cx="6858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219456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11312" y="24871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10" kern="0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2.73배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211312" y="3108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4월 그린티 검색 피크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11312" y="3529584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자산이 아니었다.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불러냈다가 놓아버렸을 뿐이다.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영업이익률은 같은 기간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3.8% → 0.7%로 떨어졌다.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1 — TAM·SAM·SOM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타깃을 골랐다면, 시장 규모도 다시 쟀어야 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2139696"/>
            <a:ext cx="10762488" cy="969264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4140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42032" y="22860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스킨케어 · Gen Z 세그먼트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31152" y="2286000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회사·업계 공개 자료로 미확인 — 이 분석의 한계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3273552"/>
            <a:ext cx="10762488" cy="969264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5478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42032" y="341985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미국·유럽(세포라·Space NK) + 아시아 온라인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31152" y="3419856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채널은 확보(2024 Space NK 입점)했으나 규모 미계산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4407408"/>
            <a:ext cx="10762488" cy="969264"/>
          </a:xfrm>
          <a:prstGeom prst="roundRect">
            <a:avLst>
              <a:gd name="adj" fmla="val 754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6817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455371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미·일 계열사 공급 매출 (근사)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31152" y="4553712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200.0억 → 2023 244.5억(+22.3%) → 2024 145.2억(−40.6%)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5632704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미·일 공급액은 본사→계열사 도매 수치이며 현지 소비자 판매가 아니다. “본사가 해외로 얼마나 밀었는가”로만 읽을 것 — SOM의 완전한 대체 지표는 아니다.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2 — STP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세분화 5조건 — 3개는 통과, 2개에서 무너졌다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9264" y="2276856"/>
            <a:ext cx="292608" cy="29260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99616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가능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56432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데이터는 있음, 해외 Gen Z 세그먼트 크기는 미확정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9264" y="3035808"/>
            <a:ext cx="292608" cy="29260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99616" y="28620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 충분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86207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공급 +22.3%(2023)로 성장 가능성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9264" y="3794760"/>
            <a:ext cx="292608" cy="29260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9616" y="362102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가능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362102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Space NK · 세포라 입점으로 채널 확보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4379976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DEEE9"/>
          </a:solidFill>
          <a:ln w="12700">
            <a:solidFill>
              <a:srgbClr val="FDE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553712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99616" y="437997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56432" y="4379976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NEW ISLE — “특별한 포인트 없는 가상 공간” 평가, 차별화 실패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" y="5138928"/>
            <a:ext cx="10762488" cy="640080"/>
          </a:xfrm>
          <a:prstGeom prst="roundRect">
            <a:avLst>
              <a:gd name="adj" fmla="val 11429"/>
            </a:avLst>
          </a:prstGeom>
          <a:solidFill>
            <a:srgbClr val="FDEEE9"/>
          </a:solidFill>
          <a:ln w="12700">
            <a:solidFill>
              <a:srgbClr val="FDE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5312664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5312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99616" y="51389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가능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56432" y="51389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증액 없이 1년 만에 철회 — 지속 실행 실패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재구성 3 — 포지셔닝 3원칙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 · 관련성 · 신뢰성 — 셋 중 둘이 무너졌다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2157984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FDEEE9"/>
          </a:solidFill>
          <a:ln w="12700">
            <a:solidFill>
              <a:srgbClr val="FDE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4688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3639312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“제주도와 달리 특별한 포인트가 없는 가상 공간”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" y="495604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비즈워치 2024-04-01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25696" y="2157984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FDF6E7"/>
          </a:solidFill>
          <a:ln w="12700">
            <a:solidFill>
              <a:srgbClr val="FDF6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2468880"/>
            <a:ext cx="548640" cy="548640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36592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6592" y="3639312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고객(자연주의)에겐 무관.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타깃(해외 Gen Z)에겐 일부 통함 (미국 +86.1%)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157984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FDEEE9"/>
          </a:solidFill>
          <a:ln w="12700">
            <a:solidFill>
              <a:srgbClr val="FDE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9056" y="24688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49056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49056" y="3639312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“헤리티지가 안 보인다”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20년 쌓은 자산을 계승하지 못함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49056" y="495604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디자인나침반 2023-02-22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5577840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통과해야 한다 — 하나라도 무너지면 “다름”이 아니라 “낯섦”만 남는다.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반론 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“로드샵이 다 죽던 시기 아닌가?”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시작점을 100으로 맞춰 같은 채널의 다른 브랜드와 나란히 놓았다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1396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36192" y="2468880"/>
            <a:ext cx="0" cy="283464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2272" y="2468880"/>
            <a:ext cx="0" cy="283464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2764971"/>
            <a:ext cx="2926080" cy="649834"/>
          </a:xfrm>
          <a:prstGeom prst="line">
            <a:avLst/>
          </a:prstGeom>
          <a:noFill/>
          <a:ln w="31750">
            <a:solidFill>
              <a:srgbClr val="8A90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6192" y="2764971"/>
            <a:ext cx="2926080" cy="937391"/>
          </a:xfrm>
          <a:prstGeom prst="line">
            <a:avLst/>
          </a:prstGeom>
          <a:noFill/>
          <a:ln w="4445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63695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26850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아리따움 −28.7%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55605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−41.4%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56327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공정위 정보공개서 · 같은 그룹·채널·시기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73952" y="21396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96912" y="2468880"/>
            <a:ext cx="0" cy="283464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65792" y="2468880"/>
            <a:ext cx="0" cy="2834640"/>
          </a:xfrm>
          <a:prstGeom prst="line">
            <a:avLst/>
          </a:prstGeom>
          <a:noFill/>
          <a:ln w="12700">
            <a:solidFill>
              <a:srgbClr val="E3E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2764971"/>
            <a:ext cx="2468880" cy="120004"/>
          </a:xfrm>
          <a:prstGeom prst="line">
            <a:avLst/>
          </a:prstGeom>
          <a:noFill/>
          <a:ln w="31750">
            <a:solidFill>
              <a:srgbClr val="8A90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2764971"/>
            <a:ext cx="2468880" cy="1650623"/>
          </a:xfrm>
          <a:prstGeom prst="line">
            <a:avLst/>
          </a:prstGeom>
          <a:noFill/>
          <a:ln w="4445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263695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1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2738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토니모리 −5.6%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0" y="426929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−72.9%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3971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859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3952" y="5632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데이터랩 · 같은 로드샵 카테고리 · 토니모리는 2021~2025 한정(2026-02부터 붕괴, 1~7월 YoY −53.5% — 대조군 제외, 미샤 −27.1%로 대체)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5943600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에뛰드는 −62.1%로 더 심하다. “이니스프리만 무너졌다”가 아니라 “아리따움 대비”로 한정해서 말할 것.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반론 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“광고비를 늘려서 이익이 준 것 아닌가?”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 → 2023 영업이익 감소 −220.8억의 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3232" y="2514600"/>
            <a:ext cx="10697913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11145" y="2514600"/>
            <a:ext cx="64575" cy="1051560"/>
          </a:xfrm>
          <a:prstGeom prst="rect">
            <a:avLst/>
          </a:prstGeom>
          <a:solidFill>
            <a:srgbClr val="8A90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14600"/>
            <a:ext cx="1069791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매출총이익 감소  −219.5억   (99.4%)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9828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 +1.4억 (0.6%)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4224528"/>
            <a:ext cx="10762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아니다. 팔리는 양 자체가 줄었다.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4736592"/>
            <a:ext cx="107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판관비는 +1.4억으로 사실상 동결이었다. 이익 감소의 99.4%가 매출총이익에서 나왔다.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“광고비 때문에 이익이 줄었다”는 서술은 숫자로 성립하지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그렇다면 무엇이 브랜드를 움직였나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광고비는 제품을 팔았고, 브랜드를 지탱한 건 매장이었다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브랜드 검색량에 두 변수를 각각 세워 보면 답이 갈린다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3232" y="2487168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13232" y="2139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→ 브랜드 검색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822192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A9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−0.03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" y="53949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점이 흩어진다 — 돈을 더 써도 브랜드는 안 움직였다</a:t>
            </a:r>
            <a:endParaRPr lang="en-US" sz="10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400800" y="2487168"/>
          <a:ext cx="5074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6400800" y="2139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수 → 브랜드 검색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4964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0.98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00800" y="539496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5개가 직선 위에 놓인다 — 가맹점 100개 감소 = 검색지수 −2.37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13232" y="5760720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매장은 유통 채널이 아니라, 브랜드를 떠올리게 하는 매체였다.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렌즈 — 거버넌스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고객 유지가 애초 목표가 아니었을 수 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상관관계이며 인과관계가 아니다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59536" y="2615184"/>
            <a:ext cx="8595360" cy="0"/>
          </a:xfrm>
          <a:prstGeom prst="line">
            <a:avLst/>
          </a:prstGeom>
          <a:noFill/>
          <a:ln w="25400">
            <a:solidFill>
              <a:srgbClr val="E3E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468880"/>
            <a:ext cx="292608" cy="292608"/>
          </a:xfrm>
          <a:prstGeom prst="ellipse">
            <a:avLst/>
          </a:prstGeom>
          <a:solidFill>
            <a:srgbClr val="0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89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· 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316382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리브랜딩(THE NEW ISLE) 단행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25696" y="2468880"/>
            <a:ext cx="292608" cy="292608"/>
          </a:xfrm>
          <a:prstGeom prst="ellipse">
            <a:avLst/>
          </a:prstGeom>
          <a:solidFill>
            <a:srgbClr val="C98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889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· 07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25696" y="316382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서민정(서경배 회장 장녀)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지분 기부 + 휴직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292608" cy="29260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889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38160" y="316382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−20.6% 철회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" y="4206240"/>
            <a:ext cx="10762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언론 보도에 따르면 이 리브랜딩은 서민정의 승계 재원 마련 전략으로 다뤄졌다(비즈한국). 그런데 리브랜딩 반년 뒤, 그 전략의 당사자가 지분을 내려놓고 조직을 떠났다 — 광고비 철회(2024)보다 앞선 시점이다.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4956048"/>
            <a:ext cx="10762488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956048"/>
            <a:ext cx="10104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목적이 국내 고객 유지가 아니라 “기업가치 서사”였다면, 국내 소비자 지표가 뒷전이었던 이유가 설명된다.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시점 일치일 뿐 — 증명된 인과관계는 아니다.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진단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10762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포지셔닝 리브랜딩을 하면서,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664208"/>
            <a:ext cx="10762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표면적 리브랜딩의 자원만 썼다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13232" y="2889504"/>
            <a:ext cx="5138928" cy="2286000"/>
          </a:xfrm>
          <a:prstGeom prst="roundRect">
            <a:avLst>
              <a:gd name="adj" fmla="val 3200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3163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결정은 ②였다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0704" y="363931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타깃을 국내 자연주의 2030에서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+ Gen Z로 바꿨고,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타깃에서 실제 반응이 왔다.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(미국 공급 +86.1%)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36792" y="2889504"/>
            <a:ext cx="5138928" cy="2286000"/>
          </a:xfrm>
          <a:prstGeom prst="roundRect">
            <a:avLst>
              <a:gd name="adj" fmla="val 3200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84264" y="3163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실행은 ①이었다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84264" y="363931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판관비 총액은 동결(+0.1%)했고,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시장을 지킬 예산 없이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만에(−20.6%) 손을 뗐다.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55046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실패의 본질은 “무엇을 바꿨나”가 아니라, “바꾼 크기에 맞는 자원을 쓰지 않은 것”이다.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포지셔닝 리브랜딩을 하려면 지켰어야 할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1396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D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26464" y="2103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예산은 재배치가 아니라 증액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6464" y="243230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시장(SAM)에 맞게 판관비 총액 자체를 늘렸어야 한다. 기존 예산을 깎아 메꾸는 방식은 조직이 베팅하지 않았다는 신호로 읽힌다.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31455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D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26464" y="31089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3년 이상 지속 투자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26464" y="343814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인지·신뢰는 1년 안에 안착하지 않는다. 1년 만의 철회는 반응이 오던 채널(해외)까지 함께 무너뜨렸다.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4151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D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26464" y="41148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고객에게 별도 커뮤니케이션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444398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리포지셔닝은 새 타깃에게만 말을 걸어선 안 된다. 헤리티지 고객에게 “왜 바뀌는지”를 설명하지 않으면 이탈로 이어진다.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51572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D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26464" y="5120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TAM·SAM·SOM을 실제로 계산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26464" y="5449824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“해외 + Gen Z”라는 새 타깃을 정했다면 시장 규모부터 다시 쟀어야 했다 — 이 분석에서도 정확한 수치는 미확보였다.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지금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처방은 광고 증액도,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 재변경도 아니다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191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432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사라진 매장 노출을</a:t>
            </a:r>
            <a:endParaRPr lang="en-US" sz="21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대체할 것인가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3232" y="444398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B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대체재는 이미 브랜드 안에 있다 — 출시 당일 올리브영 판매 1위 제품(PDRN 앰플, 회사 발표 기준 2년 누적 출하 195만 병)과 그 제품을 산 고객이다.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52303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400개가 하던 일을,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제품 하나와 그 고객이 해야 한다.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173736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0" b="1" spc="-300" kern="0" dirty="0">
                <a:solidFill>
                  <a:srgbClr val="23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8138160" y="27980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2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2021년 가맹점 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38160" y="338328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0" b="1" spc="-3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8138160" y="44439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2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가맹점 수 (법정 등록)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4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75488"/>
            <a:ext cx="10762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· 한계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3232" y="786384"/>
            <a:ext cx="10762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spc="-70" kern="0" dirty="0">
                <a:solidFill>
                  <a:srgbClr val="10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분석이 기대는 것과, 아직 못 채운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632764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B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2023 리브랜딩 · 캡스톤 팀 프로젝트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217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D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450592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(주)이니스프리 감사보고서 6건 (DART)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공정거래위원회 가맹사업거래 정보공개서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데이터랩 검색어트렌드 (일간 1,826일)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한국기업평판연구소 브랜드평판지수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 광고 라이브러리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언론보도 (비즈한국·딜사이트·비즈워치·매드타임스 등)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AGM 강의노트 (전략 프레임워크 · STP · 포지셔닝)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450592"/>
            <a:ext cx="5074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Gen Z 시장의 정확한 TAM·SAM 미확보 — 계열사 공급액으로 근사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서민정 지분 변동 수치는 보도마다 엇갈림 — DART 원문 대조 필요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 렌즈는 시점 상관관계이며 인과관계가 아님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수 vs 검색량 상관은 n=4~5로 통계적 검정력이 낮음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역인과(수요 감소 → 폐점)를 배제할 수 없음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B61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광고선전비 ≠ 전체 마케팅비 (2024년 광고+판촉 450.5억, 1.6배)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5632704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감사보고서·공시·보도를 근거로 한 학습용 분석이며, 이니스프리 및 아모레퍼시픽과 무관한 캡스톤 프로젝트 목적의 가상 기획입니다.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이니스프리 2023 리브랜딩 진단</dc:title>
  <dc:subject>PptxGenJS Presentation</dc:subject>
  <dc:creator>캡스톤 팀 프로젝트</dc:creator>
  <cp:lastModifiedBy>캡스톤 팀 프로젝트</cp:lastModifiedBy>
  <cp:revision>1</cp:revision>
  <dcterms:created xsi:type="dcterms:W3CDTF">2026-08-18T05:58:02Z</dcterms:created>
  <dcterms:modified xsi:type="dcterms:W3CDTF">2026-08-18T05:58:02Z</dcterms:modified>
</cp:coreProperties>
</file>