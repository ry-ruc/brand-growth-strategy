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시장분석 (정식 절차)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 → PESTEL → 5 Forces → SWOT → TOWS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9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AGM 강의노트(전략 프레임워크) 절차를 그대로 따른 시장·환경 분석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캡스톤 팀 프로젝트 · 앞선 "리브랜딩 문제분석" PPT의 보완편 · 2026-08-18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순서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순서인가 — 안에서 밖으로, 밖에서 다시 안으로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103120"/>
            <a:ext cx="640080" cy="64008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고객·경쟁·자사부터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4366260" y="2103120"/>
            <a:ext cx="640080" cy="64008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바꾸지만 흔드는 거시환경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9320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00900" y="2103120"/>
            <a:ext cx="640080" cy="64008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18" name="Text 16"/>
          <p:cNvSpPr/>
          <p:nvPr/>
        </p:nvSpPr>
        <p:spPr>
          <a:xfrm>
            <a:off x="72009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산업, 들어가면 남는 게 있나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23960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35540" y="2103120"/>
            <a:ext cx="640080" cy="640080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355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8972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SWOT→TOWS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3544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안팎을 겹쳐 전략을 뽑는다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663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3C에서 스위트스팟을 찾고 → PESTEL·5Forces로 산업 환경을 확인하고 → 이 셋을 SWOT에 다시 모아 → TOWS로 실행 전략을 뽑는다. 앞선 PPT의 "리브랜딩 진단"은 이 중 Company(3C)와 SWOT의 W·T 칸에 들어갈 재료다.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3C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원이 겹치는 곳에 기회가 있다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486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시장 정의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19659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7FB"/>
          </a:solidFill>
          <a:ln w="12700">
            <a:solidFill>
              <a:srgbClr val="8FAE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9659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"성분 신뢰"와 "브랜드 스토리" 사이에서 소비자의 선택 피로를 해소해야 하는, 로드샵에서 H&amp;B(올리브영) 중심으로 전환된 국내 스킨케어 유통 시장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8FAED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0332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Customer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02920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1장 →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25112" y="320040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E8574A"/>
          </a:solidFill>
          <a:ln/>
        </p:spPr>
      </p:sp>
      <p:sp>
        <p:nvSpPr>
          <p:cNvPr id="24" name="Text 22"/>
          <p:cNvSpPr/>
          <p:nvPr/>
        </p:nvSpPr>
        <p:spPr>
          <a:xfrm>
            <a:off x="4325112" y="370332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Competitor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325112" y="425196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25112" y="502920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2장 →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01584" y="320040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1E7B34"/>
          </a:solidFill>
          <a:ln/>
        </p:spPr>
      </p:sp>
      <p:sp>
        <p:nvSpPr>
          <p:cNvPr id="28" name="Text 26"/>
          <p:cNvSpPr/>
          <p:nvPr/>
        </p:nvSpPr>
        <p:spPr>
          <a:xfrm>
            <a:off x="8101584" y="370332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Company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101584" y="425196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01584" y="502920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3장 →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3C — CUSTOMER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고객은 세 조각으로 갈라져 있고, 서로 다른 걸 원한다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1691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헤리티지 고객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74320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3040, 로드샵 시절부터 이용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1691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"믿을 수 있는 제주 자연주의" 스토리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595360" y="1691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 중 — 브랜드 검색 -73%(5년)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성분 탐색형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74320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2030, 올리브영 랭킹 쇼핑객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743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"성분·효능 데이터로 검증된 제품"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95360" y="2743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치열 — 올리브영 100위 내 1개뿐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794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Gen Z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743200" y="3794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미국·유럽, 세포라·Space NK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3794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"K뷰티다운 신선한 이미지"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95360" y="3794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 확인(+86.1%, 2023) 지속 안 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원하는 것(JTBD)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조각 모두 "화장품 선택 피로"를 대신 없애줄 브랜드를 원한다. 다만 그 증거로 어떤 걸 요구하는지(스토리 vs 데이터)가 세대·시장마다 다르다 — 이니스프리는 지금 그 사이에서 아무에게도 확실히 소구하지 못하고 있다.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3C — COMPETITOR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 싸우나 — 직접·간접·대체까지 3층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1691640"/>
            <a:ext cx="1828800" cy="667512"/>
          </a:xfrm>
          <a:prstGeom prst="roundRect">
            <a:avLst>
              <a:gd name="adj" fmla="val 8219"/>
            </a:avLst>
          </a:prstGeom>
          <a:solidFill>
            <a:srgbClr val="8FAED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691640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경쟁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60320" y="1691640"/>
            <a:ext cx="9052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미샤 · 토니모리 · 에뛰드 · 아리따움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468880"/>
            <a:ext cx="1828800" cy="667512"/>
          </a:xfrm>
          <a:prstGeom prst="roundRect">
            <a:avLst>
              <a:gd name="adj" fmla="val 8219"/>
            </a:avLst>
          </a:prstGeom>
          <a:solidFill>
            <a:srgbClr val="E8574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68880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간접 경쟁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560320" y="2468880"/>
            <a:ext cx="9052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올리브영 PB · 코스알엑스·라운드랩·아누아(온라인 인디)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1828800" cy="667512"/>
          </a:xfrm>
          <a:prstGeom prst="roundRect">
            <a:avLst>
              <a:gd name="adj" fmla="val 8219"/>
            </a:avLst>
          </a:prstGeom>
          <a:solidFill>
            <a:srgbClr val="6B728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46120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 행동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560320" y="3246120"/>
            <a:ext cx="9052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다이소 뷰티 · 편의점 화장품 · 스킨케어 단순화(세안+선크림만)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근거 데이터 (팀 리서치)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82296" cy="502920"/>
          </a:xfrm>
          <a:prstGeom prst="roundRect">
            <a:avLst>
              <a:gd name="adj" fmla="val 22222"/>
            </a:avLst>
          </a:prstGeom>
          <a:solidFill>
            <a:srgbClr val="E8574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5262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미샤가 브랜드평판 순위에서 이니스프리를 추월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하반기~2025년, 화장품전문점 카테고리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093208"/>
            <a:ext cx="82296" cy="502920"/>
          </a:xfrm>
          <a:prstGeom prst="roundRect">
            <a:avLst>
              <a:gd name="adj" fmla="val 22222"/>
            </a:avLst>
          </a:prstGeom>
          <a:solidFill>
            <a:srgbClr val="E8574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0932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미샤의 메타 광고는 활성 2건뿐 (이니스프리 220건)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미샤는 광고가 아니라 무신사·올리브영 자체 채널에서 성장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660136"/>
            <a:ext cx="82296" cy="502920"/>
          </a:xfrm>
          <a:prstGeom prst="roundRect">
            <a:avLst>
              <a:gd name="adj" fmla="val 22222"/>
            </a:avLst>
          </a:prstGeom>
          <a:solidFill>
            <a:srgbClr val="E8574A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66013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토니모리도 성과형 광고 일변도 — 이니스프리만의 문제 아님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브랜드 스토리텔링 부재는 유통 구조 전체의 패턴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3C — COMPANY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 — 자산은 있는데 실행이 못 따라간다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169164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5F7FB"/>
          </a:solidFill>
          <a:ln w="12700">
            <a:solidFill>
              <a:srgbClr val="1E7B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233172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 헤리티지 · 원조 로드샵 자산
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그린티·PDRN 등 원료 R&amp;D 자산
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아모레퍼시픽그룹 유통·생산 인프라
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해외 채널 확보 (Space NK, 세포라)
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신제품 데이터 — 레티놀 앰플 올영 랭킹 1위 이력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169164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5F7FB"/>
          </a:solidFill>
          <a:ln w="12700">
            <a:solidFill>
              <a:srgbClr val="E857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233172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스토리와 실행 예산의 불일치
  (② 결정을 ① 예산으로 집행)
</a:t>
            </a:r>
            <a:endParaRPr lang="en-US" sz="1250" dirty="0"/>
          </a:p>
          <a:p>
            <a:pPr marL="342900" indent="-342900">
              <a:lnSpc>
                <a:spcPct val="12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매장 급감 — 자체 노출 매체 소실
  (400개 → 190개, 2021~2024)
</a:t>
            </a:r>
            <a:endParaRPr lang="en-US" sz="1250" dirty="0"/>
          </a:p>
          <a:p>
            <a:pPr marL="342900" indent="-342900">
              <a:lnSpc>
                <a:spcPct val="12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올리브영 랭킹 경쟁력 약함
  (카테고리 100위 내 1개, 에뛰드는 11개)
</a:t>
            </a:r>
            <a:endParaRPr lang="en-US" sz="1250" dirty="0"/>
          </a:p>
          <a:p>
            <a:pPr marL="342900" indent="-342900">
              <a:lnSpc>
                <a:spcPct val="12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조직의 지속 투자 확신 부재 — 1년 만에 철회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3C 종합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원이 겹치는 스위트스팟은 어디인가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097280" y="1737360"/>
            <a:ext cx="4206240" cy="3657600"/>
          </a:xfrm>
          <a:prstGeom prst="ellipse">
            <a:avLst/>
          </a:prstGeom>
          <a:solidFill>
            <a:srgbClr val="8FAEDD">
              <a:alpha val="45000"/>
            </a:srgbClr>
          </a:solidFill>
          <a:ln w="19050">
            <a:solidFill>
              <a:srgbClr val="8FAE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1920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Customer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피로 해소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사람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23360" y="1737360"/>
            <a:ext cx="4206240" cy="3657600"/>
          </a:xfrm>
          <a:prstGeom prst="ellipse">
            <a:avLst/>
          </a:prstGeom>
          <a:solidFill>
            <a:srgbClr val="E8574A">
              <a:alpha val="35000"/>
            </a:srgbClr>
          </a:solidFill>
          <a:ln w="19050">
            <a:solidFill>
              <a:srgbClr val="E857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Competitor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랭킹·바이럴로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증명하는 시장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0" y="3566160"/>
            <a:ext cx="4206240" cy="3657600"/>
          </a:xfrm>
          <a:prstGeom prst="ellipse">
            <a:avLst/>
          </a:prstGeom>
          <a:solidFill>
            <a:srgbClr val="1E7B34">
              <a:alpha val="35000"/>
            </a:srgbClr>
          </a:solidFill>
          <a:ln w="19050">
            <a:solidFill>
              <a:srgbClr val="1E7B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5623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Company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원료 자산은 있으나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실행이 안 됨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75120" y="1920240"/>
            <a:ext cx="4937760" cy="384048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2148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스위트스팟 후보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2560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"입증된 원료 + 검증 데이터"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순수 스토리도, 순수 성분도 아닌 결합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49440" y="356616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그린티·PDRN 같은 자사 원료 자산에, 성분 탐색형 고객이 요구하는 임상·랭킹 데이터를 결합한다 — 헤리티지(제주 스토리)를 버리지 않으면서 성분 신뢰까지 얻는 자리.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이 스위트스팟은 3C 안에서 도출된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이며, PESTEL·5Forces·SWOT을 거쳐 검증해야 한다.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PESTEL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못 바꾸지만 나를 흔드는 6가지 바람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1691640"/>
            <a:ext cx="5532120" cy="1481328"/>
          </a:xfrm>
          <a:prstGeom prst="roundRect">
            <a:avLst>
              <a:gd name="adj" fmla="val 4938"/>
            </a:avLst>
          </a:prstGeom>
          <a:solidFill>
            <a:srgbClr val="F5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18288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정치·규제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25880" y="2194560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화장품 표시광고 규제(기능성 심사), 미·EU 성분 규제 강화, 중국 정치 리스크 학습효과(한한령)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691640"/>
            <a:ext cx="5532120" cy="1481328"/>
          </a:xfrm>
          <a:prstGeom prst="roundRect">
            <a:avLst>
              <a:gd name="adj" fmla="val 4938"/>
            </a:avLst>
          </a:prstGeom>
          <a:solidFill>
            <a:srgbClr val="F5F7FB"/>
          </a:solidFill>
          <a:ln/>
        </p:spPr>
      </p:sp>
      <p:sp>
        <p:nvSpPr>
          <p:cNvPr id="22" name="Shape 20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18288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40880" y="2194560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고물가 → 올리브영 "1+1·특가" 문화 고착, 원화 약세는 해외 수출에 유리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282696"/>
            <a:ext cx="5532120" cy="1481328"/>
          </a:xfrm>
          <a:prstGeom prst="roundRect">
            <a:avLst>
              <a:gd name="adj" fmla="val 4938"/>
            </a:avLst>
          </a:prstGeom>
          <a:solidFill>
            <a:srgbClr val="F5F7FB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465576"/>
            <a:ext cx="457200" cy="45720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34198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사회·문화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325880" y="3785616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로드샵→H&amp;B(올리브영) 소비 고착화, K뷰티 글로벌 인기(미·유럽 Z세대), "성분 학습형" 소비자 증가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3282696"/>
            <a:ext cx="5532120" cy="1481328"/>
          </a:xfrm>
          <a:prstGeom prst="roundRect">
            <a:avLst>
              <a:gd name="adj" fmla="val 4938"/>
            </a:avLst>
          </a:prstGeom>
          <a:solidFill>
            <a:srgbClr val="F5F7F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46520" y="3465576"/>
            <a:ext cx="457200" cy="45720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0880" y="34198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040880" y="3785616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올리브영 랭킹 알고리즘이 사실상 유통 규칙, SNS·틱톡 바이럴 리뷰가 구매결정 좌우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873752"/>
            <a:ext cx="5532120" cy="1481328"/>
          </a:xfrm>
          <a:prstGeom prst="roundRect">
            <a:avLst>
              <a:gd name="adj" fmla="val 4938"/>
            </a:avLst>
          </a:prstGeom>
          <a:solidFill>
            <a:srgbClr val="F5F7FB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5056632"/>
            <a:ext cx="457200" cy="45720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25880" y="50109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325880" y="5376672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클린뷰티·지속가능 패키지 요구 증가 — 원래 "제주 자연" 포지션과 정확히 부합했던 트렌드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4873752"/>
            <a:ext cx="5532120" cy="1481328"/>
          </a:xfrm>
          <a:prstGeom prst="roundRect">
            <a:avLst>
              <a:gd name="adj" fmla="val 4938"/>
            </a:avLst>
          </a:prstGeom>
          <a:solidFill>
            <a:srgbClr val="F5F7FB"/>
          </a:solidFill>
          <a:ln/>
        </p:spPr>
      </p:sp>
      <p:sp>
        <p:nvSpPr>
          <p:cNvPr id="42" name="Shape 40"/>
          <p:cNvSpPr/>
          <p:nvPr/>
        </p:nvSpPr>
        <p:spPr>
          <a:xfrm>
            <a:off x="6446520" y="5056632"/>
            <a:ext cx="457200" cy="45720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40880" y="50109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법·의무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040880" y="5376672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정기구독·환불 규정, 가맹거래법상 간판·인테리어 비용 분담 의무(정보공개서 확인)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5 FORCES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산업, 들어가면 남는 게 있을까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1691640"/>
            <a:ext cx="11064240" cy="667512"/>
          </a:xfrm>
          <a:prstGeom prst="roundRect">
            <a:avLst>
              <a:gd name="adj" fmla="val 10959"/>
            </a:avLst>
          </a:prstGeom>
          <a:solidFill>
            <a:srgbClr val="F5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1691640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경쟁 강도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185166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E8574A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18516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0" y="1691640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미샤·토니모리·에뛰드·아리따움이 같은 랭킹판에서 경쟁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2468880"/>
            <a:ext cx="11064240" cy="667512"/>
          </a:xfrm>
          <a:prstGeom prst="roundRect">
            <a:avLst>
              <a:gd name="adj" fmla="val 10959"/>
            </a:avLst>
          </a:prstGeom>
          <a:solidFill>
            <a:srgbClr val="F5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468880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진입 위협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06240" y="26289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E8574A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26289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0" y="2468880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진입장벽 낮음 — 코스알엑스·라운드랩 등 인디 브랜드 급성장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246120"/>
            <a:ext cx="11064240" cy="667512"/>
          </a:xfrm>
          <a:prstGeom prst="roundRect">
            <a:avLst>
              <a:gd name="adj" fmla="val 10959"/>
            </a:avLst>
          </a:prstGeom>
          <a:solidFill>
            <a:srgbClr val="F5F7F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246120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대체재 위협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06240" y="340614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E8574A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34061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0" y="3246120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다이소 뷰티·편의점 화장품·스킨케어 단순화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023360"/>
            <a:ext cx="11064240" cy="667512"/>
          </a:xfrm>
          <a:prstGeom prst="roundRect">
            <a:avLst>
              <a:gd name="adj" fmla="val 10959"/>
            </a:avLst>
          </a:prstGeom>
          <a:solidFill>
            <a:srgbClr val="F5F7FB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023360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구매자(소비자) 협상력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06240" y="418338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E8574A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0" y="41833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0" y="4023360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전환비용 0에 가까움, 랭킹·리뷰로 즉시 스위칭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800600"/>
            <a:ext cx="11064240" cy="667512"/>
          </a:xfrm>
          <a:prstGeom prst="roundRect">
            <a:avLst>
              <a:gd name="adj" fmla="val 10959"/>
            </a:avLst>
          </a:prstGeom>
          <a:solidFill>
            <a:srgbClr val="F5F7FB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800600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공급자 협상력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206240" y="496062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1E7B34"/>
          </a:solidFill>
          <a:ln/>
        </p:spPr>
      </p:sp>
      <p:sp>
        <p:nvSpPr>
          <p:cNvPr id="39" name="Text 37"/>
          <p:cNvSpPr/>
          <p:nvPr/>
        </p:nvSpPr>
        <p:spPr>
          <a:xfrm>
            <a:off x="4206240" y="49606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0" y="4800600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OEM·ODM 다수 — 원료·제조 대체 용이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압력이 전부 높다 →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 전체 수익성이 구조적으로 낮다.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브랜드 개별 노력보다 "올리브영 랭킹판에서 이기는 법" 자체가 산업의 규칙이 됐다.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SWOT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3C·PESTEL·5Forces를 안팎 2×2로 겹친다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5875">
            <a:solidFill>
              <a:srgbClr val="1E7B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E7B3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1911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24231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20년 헤리티지·원조 로드샵 자산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그린티·PDRN 원료 R&amp;D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아모레퍼시픽 유통·생산 인프라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해외 신규 채널(Space NK·세포라)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5875">
            <a:solidFill>
              <a:srgbClr val="E857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1911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24231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결정(포지셔닝)과 실행(예산) 불일치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오프라인 매장 급감(자체 매체 소실)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올리브영 랭킹 경쟁력 약함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조직의 지속 투자 확신 부재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5875">
            <a:solidFill>
              <a:srgbClr val="8FAE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4197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기회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47091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글로벌 Gen Z K뷰티 수요 확대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클린뷰티·성분신뢰 트렌드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온라인 다이렉트 채널(자사몰·쿠팡) 성장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해외 채널 반응 확인됨(2023 +86.1%)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3977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41605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5160" y="4197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위협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92240" y="47091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5 Forces 전 항목 압력 높음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인디 브랜드 범람으로 랭킹 경쟁 심화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경쟁사(미샤)의 비광고 채널 성장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가성비 대체재(다이소 등) 부상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TOWS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나열로 끝내지 않는다 — 교차해서 전략을 뽑는다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1892808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1E7B3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18928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 공격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 × 기회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0" y="169164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그린티·PDRN 원료 자산을 반응이 확인된 해외 Gen Z 채널(Space NK·세포라)에 결합 — 단, 최소 3년 지속 투자 조건부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2944368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8FAED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9443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 방어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14600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강점으로 위협 막기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89120" y="27432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랭킹 경쟁 격화·인디 범람에는 "20년 검증된 헤리티지"로 차별화 — 성분 스펙 경쟁이 아니라 신뢰 경쟁으로 전환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3995928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E8574A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99592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 보완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1460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 메워 기회 잡기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89120" y="379476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조직의 투자 확신 부재는, 이미 반응이 확인된 해외 채널에 자원을 먼저 집중하는 방식으로 우회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" y="5047488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6B7280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04748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WT 회피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14600" y="4846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약점+위협 최소화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389120" y="4846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올리브영 랭킹 의존도를 낮추고 자사몰·해외 직접 채널 비중을 늘려 유통 협상력 리스크를 회피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시장분석 요약 템플릿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234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단계로 넘길 결론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시장 정의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2331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"성분 신뢰"와 "브랜드 스토리" 사이에서 소비자의 선택 피로를 해소해야 하는, 로드샵→H&amp;B(올리브영) 전환 스킨케어 시장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 핵심 각 1개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222B5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3675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그린티·PDRN 원료 R&amp;D 자산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2918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222B5C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74720" y="3675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결정(포지셔닝)과 실행(예산)의 불일치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2918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222B5C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E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3675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Gen Z 채널에서 반응 확인(+86.1%)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15400" y="32918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222B5C"/>
          </a:solidFill>
          <a:ln/>
        </p:spPr>
      </p:sp>
      <p:sp>
        <p:nvSpPr>
          <p:cNvPr id="29" name="Text 27"/>
          <p:cNvSpPr/>
          <p:nvPr/>
        </p:nvSpPr>
        <p:spPr>
          <a:xfrm>
            <a:off x="905256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052560" y="3675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 전 항목이 높음 — 산업 구조적 저수익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규모 (TAM·SAM·SOM)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2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TAM·SAM은 미확보 — 해외 계열사 공급액(SOM 근사)만 확인. 상세는 앞선 「시장분석_리브랜딩유형진단.pptx」 7번 슬라이드 참고.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단계로 넘길 결론 3줄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623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스위트스팟은 "입증된 원료 + 검증 데이터" — 헤리티지와 성분신뢰를 동시에 쥔다
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SO 전략(원료 자산 × 해외 Gen Z)이 가장 근거가 강하다 — 이미 반응이 확인됨
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실행조건은 "최소 3년 지속 투자" — 다음 단계는 STP·포지셔닝으로 이 타깃을 좁히는 것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· 한계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시장분석이 기대는 것과, 추정으로 채운 곳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데이터 (자사 항목)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감사보고서 6건(DART) · 공정위 정보공개서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데이터랩 검색어트렌드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한국기업평판연구소 브랜드평판지수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 광고 라이브러리(자사·경쟁사)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언론보도 · 앞선 「리브랜딩유형진단.pptx」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35040" y="15087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추정으로 채운 항목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187452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PESTEL·5Forces는 업계 통설·팀 관찰 기반 — 1차 통계로 전량 검증되지 않음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3C의 "고객 세그먼트"는 검색·평판 데이터로 뒷받침되나, 세그먼트별 정확한 규모는 미확인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TAM·SAM 정확 수치는 여전히 미확보(이전 덱과 동일한 한계)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SWOT·TOWS는 팀의 해석이 들어간 종합 판단 — 프레임 자체가 결론을 강제하지 않는다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E5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공개된 감사보고서·공시·보도를 근거로 한 학습용 분석이며, 이니스프리 및 아모레퍼시픽과 무관한 캡스톤 프로젝트 목적의 가상 기획입니다.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2026-08-18T06:02:16Z</dcterms:created>
  <dcterms:modified xsi:type="dcterms:W3CDTF">2026-08-18T06:02:16Z</dcterms:modified>
</cp:coreProperties>
</file>