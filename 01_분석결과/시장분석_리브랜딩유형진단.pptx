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미국 계열사 공급 매출 (억원)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미국 계열사 공급 매출</c:v>
                </c:pt>
              </c:strCache>
            </c:strRef>
          </c:tx>
          <c:spPr>
            <a:solidFill>
              <a:srgbClr val="E857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 (리브랜딩)</c:v>
                  </c:pt>
                  <c:pt idx="2">
                    <c:v>2024 (광고비 -20.6%)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130.2</c:v>
                </c:pt>
                <c:pt idx="2">
                  <c:v>99.5</c:v>
                </c:pt>
                <c:pt idx="3">
                  <c:v>199.6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시장분석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리브랜딩은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표면적이었나, 포지셔닝이었나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리브랜딩 유형 프레임워크로 진단한 실패의 구조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2011680" cy="0"/>
          </a:xfrm>
          <a:prstGeom prst="line">
            <a:avLst/>
          </a:prstGeom>
          <a:noFill/>
          <a:ln w="25400">
            <a:solidFill>
              <a:srgbClr val="E857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캡스톤 팀 프로젝트 · 브랜드 마케팅 진단 · 2026-08-18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리브랜딩에는 두 가지 유형이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강의노트 — 브랜드 마케터의 일 · 전략 프레임워크(TAM·SAM·SOM) · 포지셔닝과 가치제안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7236" cy="4160520"/>
          </a:xfrm>
          <a:prstGeom prst="roundRect">
            <a:avLst>
              <a:gd name="adj" fmla="val 2198"/>
            </a:avLst>
          </a:prstGeom>
          <a:solidFill>
            <a:srgbClr val="F5F7FB"/>
          </a:solidFill>
          <a:ln w="12700">
            <a:solidFill>
              <a:srgbClr val="8FA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4677156" cy="365760"/>
          </a:xfrm>
          <a:prstGeom prst="roundRect">
            <a:avLst>
              <a:gd name="adj" fmla="val 20000"/>
            </a:avLst>
          </a:prstGeom>
          <a:solidFill>
            <a:srgbClr val="8FAED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표면적 리브랜딩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· 색상 · 톤만 변경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6771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 재계산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불필요
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이유: 시장·타겟·포지셔닝이 안 바뀌기 때문
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필요한 것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 3C·SWOT 유지 (변동 없음)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브랜드 가이드라인만 정비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"기억"의 리프레시만 목표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3076" y="1965960"/>
            <a:ext cx="5317236" cy="4160520"/>
          </a:xfrm>
          <a:prstGeom prst="roundRect">
            <a:avLst>
              <a:gd name="adj" fmla="val 2198"/>
            </a:avLst>
          </a:prstGeom>
          <a:solidFill>
            <a:srgbClr val="F5F7FB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43116" y="2286000"/>
            <a:ext cx="4677156" cy="365760"/>
          </a:xfrm>
          <a:prstGeom prst="roundRect">
            <a:avLst>
              <a:gd name="adj" fmla="val 20000"/>
            </a:avLst>
          </a:prstGeom>
          <a:solidFill>
            <a:srgbClr val="E857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228600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포지셔닝 리브랜딩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43116" y="283464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· 위치 · 메시지 변경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3116" y="3337560"/>
            <a:ext cx="46771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 재계산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다시 필요
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이유: 새로운 경쟁 구도에 진입하기 때문
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기존: 프리미엄 백화점 타겟 (SAM 작음)
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변경: 온라인 MZ세대 타겟 (SAM 훨씬 큼)
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새로운 기회 = 새로운 시장 규모 계산 필수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1단계 — 사실관계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이니스프리는 실제로 무엇을 바꿨나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2월 · 대행사 BBDO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45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463040"/>
            <a:ext cx="4480560" cy="457200"/>
          </a:xfrm>
          <a:prstGeom prst="rect">
            <a:avLst/>
          </a:prstGeom>
          <a:solidFill>
            <a:srgbClr val="8FAEDD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0" y="1463040"/>
            <a:ext cx="4480560" cy="457200"/>
          </a:xfrm>
          <a:prstGeom prst="rect">
            <a:avLst/>
          </a:prstGeom>
          <a:solidFill>
            <a:srgbClr val="E857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0607040" cy="777240"/>
          </a:xfrm>
          <a:prstGeom prst="rect">
            <a:avLst/>
          </a:prstGeom>
          <a:solidFill>
            <a:srgbClr val="F5F7FB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1645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 (실재하는 섬)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NEW ISLE (가상의 섬)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0607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1645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슬로건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자연주의 · 제주 원료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"Nature-Powered Skincare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Discovered from the Island"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0607040" cy="777240"/>
          </a:xfrm>
          <a:prstGeom prst="rect">
            <a:avLst/>
          </a:prstGeom>
          <a:solidFill>
            <a:srgbClr val="F5F7FB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47472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 innisfree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47472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INNISFREE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0607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51960"/>
            <a:ext cx="1645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425196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자연주의 선호 국내 2030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4251960"/>
            <a:ext cx="44805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+ Gen Z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타깃까지 바뀌었다 → </a:t>
            </a:r>
            <a:pPr indent="0" marL="0">
              <a:buNone/>
            </a:pPr>
            <a:r>
              <a:rPr lang="en-US" sz="15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정의상 ② 포지셔닝 리브랜딩이다.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TAM·SAM·SOM 재계산이 반드시 필요했다.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근거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회사는 제주를 뗐는데, 소비자는 안 뗐다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-23.9%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검색지수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(2022→2023)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0.34%→0.52%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 연관 검색 비중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(2021→2025 — 브랜드 전체보다 오래 버텼다, 2024년 0.53% 정점·2025년 보합)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83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 이탈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브랜드평판지수 순위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(2023-02, 2021년 이후 최초)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소비자 반응 (당시 보도 인용)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8FAED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"제주 비자림의 짙은 녹음이 사라졌다"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디자인나침반, 2023-02-22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8FAED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177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"헤리티지가 안 보인다", "IT회사 로고 같다"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디자인나침반, 2023-02-22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8FAED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0749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"너무 못생겨서 충격", "모더나 스티커 같음"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매드타임스, 2023-06-27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8FAED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321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"특별한 포인트가 없는 가상 공간"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비즈워치, 2024-04-01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근거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노린 시장(해외 + Gen Z)에서는 실제로 반응이 왔다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64592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+86.1%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미국 공급 증가율
같은 해 국내 매출은 -8.7%
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146배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"리뉴얼·로고" 검색 지수 폭증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(2023-01 → 02, 발표 직후)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6개월 만에 소멸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타깃을 실제로 바꾸자, 실제로 새 타깃에서 반응이 왔다.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이것이 이 리브랜딩이 ② 포지셔닝형이라는 결정적 증거다 — 문제는 방향이 아니라 지속력이다.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 진단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예산은 ① 표면적 수준으로만 집행됐다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총액 (2022→2023)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+0.1%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지급수수료 -63억·운반비 -44억을 깎아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 101억을 메꿨다. 새 예산이 아니라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재배치였다.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18745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(2023→2024)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99432" y="21945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-20.6%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99432" y="3017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세계관이 자리 잡기도 전에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만에 지원을 끊었다.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75904" y="187452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효율 (광고비 1억당 매출)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75904" y="219456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-35.5%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75904" y="30175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12.3배 → 7.9배로 떨어진 뒤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3년째 회복되지 않았다.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리브랜딩(②)에 필요한 건 로고 교체 비용이 아니라 — 새 시장을 지킬 만큼의 지속 투자다.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타깃을 시장 전체로 바꾸는 결정(②)을 내려놓고,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로고를 바꾸는 수준(①)의 자원과 인내심만 투입했다.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1 — TAM·SAM·SOM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타깃을 골랐다면, 시장 규모도 다시 쟀어야 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8FAED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938528"/>
            <a:ext cx="3749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스킨케어 · Gen Z 세그먼트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1938528"/>
            <a:ext cx="4892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회사·업계 공개 자료로 미확인 — 이 분석의 한계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6440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8FAED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644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172968"/>
            <a:ext cx="3749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미국·유럽(세포라·Space NK) + 아시아 온라인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172968"/>
            <a:ext cx="4892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채널은 확보(2024 Space NK 신규 입점)했으나 규모 미계산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98848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857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98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SOM (근사)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4407408"/>
            <a:ext cx="3749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미·일 계열사 공급 매출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407408"/>
            <a:ext cx="4892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200.0억 → 2023 244.5억(+22.3%) → 2024 145.2억(-40.6%)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한계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미·일 공급액은 본사→계열사 도매 수치이며 현지 소비자 판매가 아니다. "본사가 해외로 얼마나 밀었는가"로만 읽을 것 — SOM의 완전한 대체 지표는 아니다.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2 — STP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세분화 5조건 — 3개는 통과, 2개에서 무너졌다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65376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가능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데이터는 있음, 해외 Gen Z 세그먼트 크기는 미확정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51760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23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충분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252374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공급 +22.3%(2023)로 성장 가능성 확인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38144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3101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가능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33101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Space NK·세포라 입점으로 채널 확보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DEDE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24528"/>
            <a:ext cx="402336" cy="402336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096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91840" y="40965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NEW ISLE — "특별한 포인트 없는 가상 공간" 평가, 차별화 실패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8289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DEDE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10912"/>
            <a:ext cx="402336" cy="402336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882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가능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291840" y="4882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증액 없이 1년 만에 철회 — 지속 실행 실패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3 — 포지셔닝 3원칙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 · 관련성 · 신뢰성 — 셋 중 둘이 무너졌다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5F7FB"/>
          </a:solidFill>
          <a:ln w="15875">
            <a:solidFill>
              <a:srgbClr val="E857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8236" y="2011680"/>
            <a:ext cx="822960" cy="82296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6" name="Text 4"/>
          <p:cNvSpPr/>
          <p:nvPr/>
        </p:nvSpPr>
        <p:spPr>
          <a:xfrm>
            <a:off x="1888236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"제주도와 달리 특별한 포인트가 없는 가상 공간"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비즈워치, 2024-04-01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5F7FB"/>
          </a:solidFill>
          <a:ln w="15875">
            <a:solidFill>
              <a:srgbClr val="C79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4708" y="2011680"/>
            <a:ext cx="822960" cy="822960"/>
          </a:xfrm>
          <a:prstGeom prst="ellipse">
            <a:avLst/>
          </a:prstGeom>
          <a:solidFill>
            <a:srgbClr val="C79A2E"/>
          </a:solidFill>
          <a:ln/>
        </p:spPr>
      </p:sp>
      <p:sp>
        <p:nvSpPr>
          <p:cNvPr id="11" name="Text 9"/>
          <p:cNvSpPr/>
          <p:nvPr/>
        </p:nvSpPr>
        <p:spPr>
          <a:xfrm>
            <a:off x="5664708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07992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352044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고객(자연주의 선호)에겐 무관.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타깃(해외 Gen Z)에겐 일부 통함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(미국 +86.1%)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5F7FB"/>
          </a:solidFill>
          <a:ln w="15875">
            <a:solidFill>
              <a:srgbClr val="E857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1180" y="2011680"/>
            <a:ext cx="822960" cy="82296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6" name="Text 14"/>
          <p:cNvSpPr/>
          <p:nvPr/>
        </p:nvSpPr>
        <p:spPr>
          <a:xfrm>
            <a:off x="94411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84464" y="2971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75904" y="352044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"헤리티지가 안 보인다"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20년 쌓은 자산을 계승하지 못함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3원칙은 모두 통과해야 한다 — 하나라도 무너지면 "다름"이 아니라 "낯섦"만 남는다.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렌즈 — 거버넌스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고객 유지가 애초 목표가 아니었을 수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857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 — 인과관계 아님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2459736"/>
            <a:ext cx="3264408" cy="0"/>
          </a:xfrm>
          <a:prstGeom prst="line">
            <a:avLst/>
          </a:prstGeom>
          <a:noFill/>
          <a:ln w="25400">
            <a:solidFill>
              <a:srgbClr val="8FA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2023-02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리브랜딩(THE NEW ISLE) 단행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256032" cy="256032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459736"/>
            <a:ext cx="3264408" cy="0"/>
          </a:xfrm>
          <a:prstGeom prst="line">
            <a:avLst/>
          </a:prstGeom>
          <a:noFill/>
          <a:ln w="25400">
            <a:solidFill>
              <a:srgbClr val="8FAE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2023-07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3063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서민정(서경배 회장 장녀), 이니스프리 지분 기부 + 휴직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33172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3063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-20.6% 철회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 보도에 따르면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리브랜딩은 서민정의 승계 재원 마련 전략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다뤄졌다(비즈한국). 그런데 리브랜딩 반년 뒤, 그 전략의 당사자가 지분을 내려놓고 조직을 떠났다 — 광고비 철회(2024)보다 앞선 시점이다.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7FB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만약 목적이 국내 고객 유지가 아니라 "기업가치 서사"였다면, 국내 소비자 지표가 뒷전이었던 이유가 설명된다. 다만 시점 일치일 뿐 — 증명된 인과관계는 아니다.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진단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이니스프리는 ② 포지셔닝 리브랜딩을 하면서,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표면적 리브랜딩의 자원만 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06324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222B5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②였다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타깃을 국내 자연주의 2030에서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+ Gen Z로 바꿨고,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타깃에서 실제 반응(미국 +86.1%)이 왔다.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306324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222B5C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실행은 ①이었다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37033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총액은 동결(+0.1%)했고,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시장을 지킬 예산 없이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만에(-20.6%) 손을 뗐다.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실패의 본질은 "무엇을 바꿨나"가 아니라, "바꾼 크기에 맞는 자원을 쓰지 않은 것"이다.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리브랜딩을 하려면 지켜야 했던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예산은 재배치가 아니라 증액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1214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시장(SAM)에 맞는 판관비 총액 자체를 늘렸어야 한다 — 기존 예산을 깎아 메꾸는 방식은 조직이 베팅하지 않았다는 신호로 읽힌다.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900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3년 이상 지속 투자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317296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인지·신뢰는 6개월~1년 안에 안착하지 않는다. 1년 만의 철회는 반응이 오던 채널(해외)까지 함께 무너뜨렸다.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416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31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고객에게 별도 커뮤니케이션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4224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리포지셔닝은 새 타깃에게만 말을 걸어선 안 된다 — 기존 헤리티지 고객에게 "왜 바뀌는지"를 설명하지 않으면 이탈로 이어진다.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98348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TAM·SAM·SOM을 실제로 계산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2760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"해외 + Gen Z"라는 새 타깃을 정했다면 시장 규모부터 다시 쟀어야 했다 — 이 분석에서도 정확한 수치는 미확보였다.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분석이 기대는 것과, 아직 못 채운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(주)이니스프리 감사보고서 6건 (DART)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공정거래위원회 가맹사업거래 정보공개서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네이버 데이터랩 검색어트렌드 (일간 1,826일)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한국기업평판연구소 브랜드평판지수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Meta 광고 라이브러리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언론보도 (비즈한국·딜사이트·비즈워치·SEN TV 등)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AGM 강의노트 (전략 프레임워크 · STP · 포지셔닝)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해외 Gen Z 시장의 정확한 TAM·SAM 수치는 미확보 — 계열사 공급액으로 근사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서민정 지분 변동 수치는 보도마다 엇갈림(9.5%~18.18%) — DART 원문 대조 필요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거버넌스 렌즈는 시점 상관관계이며 인과관계가 증명된 것은 아님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매장 수 vs 검색량 상관(n=4~5)은 통계적 검정력이 낮음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썸트렌드·블랙키위 등 소셜 리스닝 정량 데이터는 미확보(로그인 필요)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감사보고서·공시·보도를 근거로 한 학습용 분석이며, 이니스프리 및 아모레퍼시픽과 무관한 캡스톤 프로젝트 목적의 가상 기획입니다.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시장분석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2026-08-18T05:45:19Z</dcterms:created>
  <dcterms:modified xsi:type="dcterms:W3CDTF">2026-08-18T05:45:19Z</dcterms:modified>
</cp:coreProperties>
</file>